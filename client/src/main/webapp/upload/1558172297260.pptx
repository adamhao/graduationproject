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38"/>
  </p:handoutMasterIdLst>
  <p:sldIdLst>
    <p:sldId id="9717" r:id="rId3"/>
    <p:sldId id="10137" r:id="rId5"/>
    <p:sldId id="10138" r:id="rId6"/>
    <p:sldId id="10143" r:id="rId7"/>
    <p:sldId id="10139" r:id="rId8"/>
    <p:sldId id="10142" r:id="rId9"/>
    <p:sldId id="10151" r:id="rId10"/>
    <p:sldId id="10153" r:id="rId11"/>
    <p:sldId id="10155" r:id="rId12"/>
    <p:sldId id="10140" r:id="rId13"/>
    <p:sldId id="10113" r:id="rId14"/>
    <p:sldId id="10162" r:id="rId15"/>
    <p:sldId id="10144" r:id="rId16"/>
    <p:sldId id="10146" r:id="rId17"/>
    <p:sldId id="10154" r:id="rId18"/>
    <p:sldId id="10157" r:id="rId19"/>
    <p:sldId id="10167" r:id="rId20"/>
    <p:sldId id="10152" r:id="rId21"/>
    <p:sldId id="10156" r:id="rId22"/>
    <p:sldId id="10163" r:id="rId23"/>
    <p:sldId id="10166" r:id="rId24"/>
    <p:sldId id="10168" r:id="rId25"/>
    <p:sldId id="10169" r:id="rId26"/>
    <p:sldId id="10170" r:id="rId27"/>
    <p:sldId id="10171" r:id="rId28"/>
    <p:sldId id="10172" r:id="rId29"/>
    <p:sldId id="10173" r:id="rId30"/>
    <p:sldId id="10174" r:id="rId31"/>
    <p:sldId id="10175" r:id="rId32"/>
    <p:sldId id="10176" r:id="rId33"/>
    <p:sldId id="10177" r:id="rId34"/>
    <p:sldId id="10178" r:id="rId35"/>
    <p:sldId id="10179" r:id="rId36"/>
    <p:sldId id="10180" r:id="rId37"/>
  </p:sldIdLst>
  <p:sldSz cx="12858750" cy="723265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D7C3"/>
    <a:srgbClr val="FFB700"/>
    <a:srgbClr val="E5DAC9"/>
    <a:srgbClr val="FFC600"/>
    <a:srgbClr val="953D19"/>
    <a:srgbClr val="CC936B"/>
    <a:srgbClr val="CD763D"/>
    <a:srgbClr val="7F1513"/>
    <a:srgbClr val="F89171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" autoAdjust="0"/>
    <p:restoredTop sz="95317" autoAdjust="0"/>
  </p:normalViewPr>
  <p:slideViewPr>
    <p:cSldViewPr>
      <p:cViewPr varScale="1">
        <p:scale>
          <a:sx n="83" d="100"/>
          <a:sy n="83" d="100"/>
        </p:scale>
        <p:origin x="996" y="60"/>
      </p:cViewPr>
      <p:guideLst>
        <p:guide orient="horz" pos="328"/>
        <p:guide pos="4050"/>
        <p:guide pos="557"/>
        <p:guide orient="horz" pos="4183"/>
        <p:guide pos="7497"/>
        <p:guide pos="6908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282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67825A-42C3-43DF-A9E0-B8B749B3939F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A0162E-2667-456C-A790-270787271587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F2083-0386-4B43-BE3F-5071C6BB4F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390C9-E209-452A-AF2C-23D0DB5DF8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390C9-E209-452A-AF2C-23D0DB5DF8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390C9-E209-452A-AF2C-23D0DB5DF8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5DFD-8505-4C7B-90FE-F45A356547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06F3C-FA24-4A80-8CD4-EE5698C541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039" y="385072"/>
            <a:ext cx="11090672" cy="139797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039" y="1925358"/>
            <a:ext cx="11090672" cy="4589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/>
          <a:lstStyle/>
          <a:p>
            <a:fld id="{73B3D490-D047-46FA-BFB9-06A35E31C10B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/>
          <a:lstStyle/>
          <a:p>
            <a:fld id="{934C11C6-5A40-492F-87BB-D659BD3D6B6F}" type="slidenum">
              <a:rPr lang="id-ID" smtClean="0"/>
            </a:fld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15DFD-8505-4C7B-90FE-F45A356547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06F3C-FA24-4A80-8CD4-EE5698C541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2266950" y="5488533"/>
            <a:ext cx="8324850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5400" dirty="0" err="1" smtClean="0">
                <a:solidFill>
                  <a:schemeClr val="bg1"/>
                </a:solidFill>
                <a:cs typeface="Arial" panose="020B0604020202020204" pitchFamily="34" charset="0"/>
              </a:rPr>
              <a:t>Dubbo</a:t>
            </a:r>
            <a:endParaRPr lang="zh-CN" altLang="en-US" sz="5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0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3" y="1891628"/>
            <a:ext cx="5681516" cy="2278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69"/>
          <p:cNvSpPr>
            <a:spLocks noChangeArrowheads="1"/>
          </p:cNvSpPr>
          <p:nvPr/>
        </p:nvSpPr>
        <p:spPr bwMode="auto">
          <a:xfrm>
            <a:off x="6891882" y="2122965"/>
            <a:ext cx="185627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800" b="1" dirty="0" err="1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Dubbo</a:t>
            </a:r>
            <a:r>
              <a:rPr lang="zh-CN" alt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简介</a:t>
            </a:r>
            <a:endParaRPr lang="en-US" altLang="zh-CN" sz="2800" b="1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Box 72"/>
          <p:cNvSpPr>
            <a:spLocks noChangeArrowheads="1"/>
          </p:cNvSpPr>
          <p:nvPr/>
        </p:nvSpPr>
        <p:spPr bwMode="auto">
          <a:xfrm>
            <a:off x="2975028" y="3311748"/>
            <a:ext cx="2330766" cy="738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contents</a:t>
            </a:r>
            <a:endParaRPr lang="zh-CN" altLang="en-US" sz="32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extBox 73"/>
          <p:cNvSpPr>
            <a:spLocks noChangeArrowheads="1"/>
          </p:cNvSpPr>
          <p:nvPr/>
        </p:nvSpPr>
        <p:spPr bwMode="auto">
          <a:xfrm>
            <a:off x="3011897" y="2042570"/>
            <a:ext cx="2257028" cy="1354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88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CN" altLang="en-US" sz="80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直接连接符 74"/>
          <p:cNvSpPr>
            <a:spLocks noChangeShapeType="1"/>
          </p:cNvSpPr>
          <p:nvPr/>
        </p:nvSpPr>
        <p:spPr bwMode="auto">
          <a:xfrm>
            <a:off x="6271473" y="1886046"/>
            <a:ext cx="0" cy="3953897"/>
          </a:xfrm>
          <a:prstGeom prst="line">
            <a:avLst/>
          </a:prstGeom>
          <a:noFill/>
          <a:ln w="12700" cap="flat" cmpd="sng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TextBox 69"/>
          <p:cNvSpPr>
            <a:spLocks noChangeArrowheads="1"/>
          </p:cNvSpPr>
          <p:nvPr/>
        </p:nvSpPr>
        <p:spPr bwMode="auto">
          <a:xfrm>
            <a:off x="6846808" y="3587247"/>
            <a:ext cx="257442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800" b="1" dirty="0" err="1" smtClean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Dubbo</a:t>
            </a:r>
            <a:r>
              <a:rPr lang="zh-CN" altLang="en-US" sz="2800" b="1" dirty="0" smtClean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基础概念</a:t>
            </a:r>
            <a:endParaRPr lang="zh-CN" altLang="en-US" sz="16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69"/>
          <p:cNvSpPr>
            <a:spLocks noChangeArrowheads="1"/>
          </p:cNvSpPr>
          <p:nvPr/>
        </p:nvSpPr>
        <p:spPr bwMode="auto">
          <a:xfrm>
            <a:off x="6891882" y="5051529"/>
            <a:ext cx="22153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800" b="1" dirty="0" err="1" smtClean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Dubbo</a:t>
            </a:r>
            <a:r>
              <a:rPr lang="zh-CN" altLang="en-US" sz="2800" b="1" dirty="0" smtClean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怎么玩</a:t>
            </a:r>
            <a:endParaRPr lang="en-US" altLang="zh-CN" sz="2800" b="1" dirty="0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7" grpId="0"/>
      <p:bldP spid="8" grpId="0"/>
      <p:bldP spid="9" grpId="0" animBg="1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813564" y="1512448"/>
            <a:ext cx="4333687" cy="37693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7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</a:t>
            </a:r>
            <a:r>
              <a:rPr lang="en-US" altLang="zh-CN" sz="23895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zh-CN" altLang="en-US" sz="23895" b="1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97327" y="3112269"/>
            <a:ext cx="66120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err="1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Dubbo</a:t>
            </a:r>
            <a:r>
              <a:rPr lang="zh-CN" altLang="en-US" sz="60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简介</a:t>
            </a:r>
            <a:endParaRPr lang="zh-CN" altLang="en-US" sz="6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 advTm="0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1244799" y="1888133"/>
            <a:ext cx="10153127" cy="28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1265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311169" y="448147"/>
            <a:ext cx="573895" cy="553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65023" y="198"/>
            <a:ext cx="538090" cy="8386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ea typeface="微软雅黑" panose="020B0503020204020204" pitchFamily="34" charset="-122"/>
              </a:rPr>
              <a:t>1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59112" y="540087"/>
            <a:ext cx="1936428" cy="3692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</a:t>
            </a:r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Dubbo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319655" y="2100580"/>
            <a:ext cx="7952740" cy="396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just" eaLnBrk="0" hangingPunct="0"/>
            <a:r>
              <a:rPr lang="en-US" altLang="zh-CN" dirty="0" smtClean="0">
                <a:latin typeface="宋体" panose="02010600030101010101" pitchFamily="2" charset="-122"/>
              </a:rPr>
              <a:t>    </a:t>
            </a:r>
            <a:r>
              <a:rPr lang="en-US" altLang="zh-CN" dirty="0" err="1" smtClean="0">
                <a:latin typeface="宋体" panose="02010600030101010101" pitchFamily="2" charset="-122"/>
              </a:rPr>
              <a:t>dubbo</a:t>
            </a:r>
            <a:r>
              <a:rPr lang="zh-CN" altLang="en-US" dirty="0">
                <a:latin typeface="宋体" panose="02010600030101010101" pitchFamily="2" charset="-122"/>
              </a:rPr>
              <a:t>是阿里巴巴公司提供一个开源高性能分布式服务框架，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algn="just" eaLnBrk="0" hangingPunct="0"/>
            <a:r>
              <a:rPr lang="zh-CN" altLang="en-US" dirty="0">
                <a:latin typeface="宋体" panose="02010600030101010101" pitchFamily="2" charset="-122"/>
              </a:rPr>
              <a:t>    可以通过</a:t>
            </a:r>
            <a:r>
              <a:rPr lang="en-US" altLang="zh-CN" dirty="0" err="1">
                <a:latin typeface="宋体" panose="02010600030101010101" pitchFamily="2" charset="-122"/>
              </a:rPr>
              <a:t>rpc</a:t>
            </a:r>
            <a:r>
              <a:rPr lang="zh-CN" altLang="en-US" dirty="0">
                <a:latin typeface="宋体" panose="02010600030101010101" pitchFamily="2" charset="-122"/>
              </a:rPr>
              <a:t>进行输出和输入功能，</a:t>
            </a:r>
            <a:r>
              <a:rPr lang="zh-CN" altLang="en-US" dirty="0" smtClean="0">
                <a:latin typeface="宋体" panose="02010600030101010101" pitchFamily="2" charset="-122"/>
              </a:rPr>
              <a:t>以及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服务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治理</a:t>
            </a:r>
            <a:r>
              <a:rPr lang="zh-CN" altLang="en-US" dirty="0">
                <a:latin typeface="宋体" panose="02010600030101010101" pitchFamily="2" charset="-122"/>
              </a:rPr>
              <a:t>方案，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algn="just" eaLnBrk="0" hangingPunct="0"/>
            <a:r>
              <a:rPr lang="zh-CN" altLang="en-US" dirty="0">
                <a:latin typeface="宋体" panose="02010600030101010101" pitchFamily="2" charset="-122"/>
              </a:rPr>
              <a:t>    和</a:t>
            </a:r>
            <a:r>
              <a:rPr lang="en-US" altLang="zh-CN" dirty="0">
                <a:latin typeface="宋体" panose="02010600030101010101" pitchFamily="2" charset="-122"/>
              </a:rPr>
              <a:t>spring</a:t>
            </a:r>
            <a:r>
              <a:rPr lang="zh-CN" altLang="en-US" dirty="0">
                <a:latin typeface="宋体" panose="02010600030101010101" pitchFamily="2" charset="-122"/>
              </a:rPr>
              <a:t>进行无缝隙整合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algn="just" eaLnBrk="0" hangingPunct="0"/>
            <a:endParaRPr lang="zh-CN" altLang="en-US" dirty="0">
              <a:latin typeface="宋体" panose="02010600030101010101" pitchFamily="2" charset="-122"/>
            </a:endParaRPr>
          </a:p>
          <a:p>
            <a:pPr lvl="0" algn="just" eaLnBrk="0" hangingPunct="0"/>
            <a:r>
              <a:rPr lang="zh-CN" altLang="en-US" dirty="0">
                <a:latin typeface="宋体" panose="02010600030101010101" pitchFamily="2" charset="-122"/>
              </a:rPr>
              <a:t>    服务框架：消费者（</a:t>
            </a:r>
            <a:r>
              <a:rPr lang="en-US" altLang="zh-CN" dirty="0">
                <a:latin typeface="宋体" panose="02010600030101010101" pitchFamily="2" charset="-122"/>
              </a:rPr>
              <a:t>consumer</a:t>
            </a:r>
            <a:r>
              <a:rPr lang="zh-CN" altLang="en-US" dirty="0">
                <a:latin typeface="宋体" panose="02010600030101010101" pitchFamily="2" charset="-122"/>
              </a:rPr>
              <a:t>） 提供者（</a:t>
            </a:r>
            <a:r>
              <a:rPr lang="en-US" altLang="zh-CN" dirty="0">
                <a:latin typeface="宋体" panose="02010600030101010101" pitchFamily="2" charset="-122"/>
              </a:rPr>
              <a:t>provider</a:t>
            </a:r>
            <a:r>
              <a:rPr lang="zh-CN" altLang="en-US" dirty="0">
                <a:latin typeface="宋体" panose="02010600030101010101" pitchFamily="2" charset="-122"/>
              </a:rPr>
              <a:t>）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algn="just" eaLnBrk="0" hangingPunct="0"/>
            <a:r>
              <a:rPr lang="zh-CN" altLang="en-US" dirty="0">
                <a:latin typeface="宋体" panose="02010600030101010101" pitchFamily="2" charset="-122"/>
              </a:rPr>
              <a:t>            服务框架就是给请求提供服务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algn="just" eaLnBrk="0" hangingPunct="0"/>
            <a:endParaRPr lang="zh-CN" altLang="en-US" dirty="0">
              <a:latin typeface="宋体" panose="02010600030101010101" pitchFamily="2" charset="-122"/>
            </a:endParaRPr>
          </a:p>
          <a:p>
            <a:pPr lvl="0" algn="just" eaLnBrk="0" hangingPunct="0"/>
            <a:r>
              <a:rPr lang="zh-CN" altLang="en-US" dirty="0">
                <a:latin typeface="宋体" panose="02010600030101010101" pitchFamily="2" charset="-122"/>
              </a:rPr>
              <a:t>    分布式：一个完整的项目分不同模块，对不同的进行拆分模块，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algn="just" eaLnBrk="0" hangingPunct="0"/>
            <a:r>
              <a:rPr lang="zh-CN" altLang="en-US" dirty="0">
                <a:latin typeface="宋体" panose="02010600030101010101" pitchFamily="2" charset="-122"/>
              </a:rPr>
              <a:t>           分别部署到不同的服务器上，就是为了提高性能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algn="just" eaLnBrk="0" hangingPunct="0"/>
            <a:r>
              <a:rPr lang="zh-CN" altLang="en-US" dirty="0">
                <a:latin typeface="宋体" panose="02010600030101010101" pitchFamily="2" charset="-122"/>
              </a:rPr>
              <a:t>           高延迟高并发解决单一性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algn="just" eaLnBrk="0" hangingPunct="0"/>
            <a:endParaRPr lang="zh-CN" altLang="en-US" dirty="0">
              <a:latin typeface="宋体" panose="02010600030101010101" pitchFamily="2" charset="-122"/>
            </a:endParaRPr>
          </a:p>
          <a:p>
            <a:pPr lvl="0" algn="just" eaLnBrk="0" hangingPunct="0"/>
            <a:r>
              <a:rPr lang="zh-CN" altLang="en-US" dirty="0">
                <a:latin typeface="宋体" panose="02010600030101010101" pitchFamily="2" charset="-122"/>
              </a:rPr>
              <a:t>    </a:t>
            </a:r>
            <a:r>
              <a:rPr lang="en-US" altLang="zh-CN" dirty="0" err="1" smtClean="0">
                <a:latin typeface="宋体" panose="02010600030101010101" pitchFamily="2" charset="-122"/>
              </a:rPr>
              <a:t>rpc</a:t>
            </a:r>
            <a:r>
              <a:rPr lang="zh-CN" altLang="en-US" dirty="0" smtClean="0">
                <a:latin typeface="宋体" panose="02010600030101010101" pitchFamily="2" charset="-122"/>
              </a:rPr>
              <a:t>：</a:t>
            </a:r>
            <a:r>
              <a:rPr lang="zh-CN" altLang="en-US" dirty="0">
                <a:latin typeface="宋体" panose="02010600030101010101" pitchFamily="2" charset="-122"/>
              </a:rPr>
              <a:t>远程过程调用协议，远程访问计算机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algn="just" eaLnBrk="0" hangingPunct="0"/>
            <a:r>
              <a:rPr lang="zh-CN" altLang="en-US" dirty="0">
                <a:latin typeface="宋体" panose="02010600030101010101" pitchFamily="2" charset="-122"/>
              </a:rPr>
              <a:t>         通信 </a:t>
            </a:r>
            <a:r>
              <a:rPr lang="en-US" altLang="zh-CN" dirty="0">
                <a:latin typeface="宋体" panose="02010600030101010101" pitchFamily="2" charset="-122"/>
              </a:rPr>
              <a:t>socket </a:t>
            </a:r>
            <a:r>
              <a:rPr lang="en-US" altLang="zh-CN" dirty="0" err="1" smtClean="0">
                <a:latin typeface="宋体" panose="02010600030101010101" pitchFamily="2" charset="-122"/>
              </a:rPr>
              <a:t>nio</a:t>
            </a:r>
            <a:r>
              <a:rPr lang="zh-CN" altLang="en-US" dirty="0">
                <a:latin typeface="宋体" panose="02010600030101010101" pitchFamily="2" charset="-122"/>
              </a:rPr>
              <a:t> </a:t>
            </a:r>
            <a:r>
              <a:rPr lang="en-US" altLang="zh-CN" dirty="0" err="1" smtClean="0">
                <a:latin typeface="宋体" panose="02010600030101010101" pitchFamily="2" charset="-122"/>
              </a:rPr>
              <a:t>netty</a:t>
            </a:r>
            <a:r>
              <a:rPr lang="en-US" altLang="zh-CN" dirty="0" smtClean="0">
                <a:latin typeface="宋体" panose="02010600030101010101" pitchFamily="2" charset="-122"/>
              </a:rPr>
              <a:t> </a:t>
            </a:r>
            <a:r>
              <a:rPr lang="en-US" altLang="zh-CN" dirty="0">
                <a:latin typeface="宋体" panose="02010600030101010101" pitchFamily="2" charset="-122"/>
              </a:rPr>
              <a:t>m</a:t>
            </a:r>
            <a:r>
              <a:rPr lang="en-US" altLang="zh-CN" dirty="0" smtClean="0">
                <a:latin typeface="宋体" panose="02010600030101010101" pitchFamily="2" charset="-122"/>
              </a:rPr>
              <a:t>ina</a:t>
            </a:r>
            <a:r>
              <a:rPr lang="zh-CN" altLang="en-US" dirty="0" smtClean="0">
                <a:latin typeface="宋体" panose="02010600030101010101" pitchFamily="2" charset="-122"/>
              </a:rPr>
              <a:t>等</a:t>
            </a:r>
            <a:r>
              <a:rPr lang="zh-CN" altLang="en-US" dirty="0">
                <a:latin typeface="宋体" panose="02010600030101010101" pitchFamily="2" charset="-122"/>
              </a:rPr>
              <a:t>通信</a:t>
            </a:r>
            <a:r>
              <a:rPr lang="zh-CN" altLang="en-US" dirty="0" smtClean="0">
                <a:latin typeface="宋体" panose="02010600030101010101" pitchFamily="2" charset="-122"/>
              </a:rPr>
              <a:t>技术</a:t>
            </a:r>
            <a:endParaRPr lang="zh-CN" altLang="en-US" dirty="0" smtClean="0">
              <a:latin typeface="宋体" panose="02010600030101010101" pitchFamily="2" charset="-122"/>
            </a:endParaRPr>
          </a:p>
          <a:p>
            <a:pPr lvl="0" algn="just" eaLnBrk="0" hangingPunct="0"/>
            <a:endParaRPr kumimoji="0" lang="en-US" altLang="zh-CN" strike="noStrike" cap="none" normalizeH="0" baseline="0" dirty="0">
              <a:ln>
                <a:noFill/>
              </a:ln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14:flip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813564" y="1512448"/>
            <a:ext cx="4333687" cy="37693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7200" b="1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</a:t>
            </a:r>
            <a:r>
              <a:rPr lang="en-US" altLang="zh-CN" sz="23895" b="1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endParaRPr lang="zh-CN" altLang="en-US" sz="23895" b="1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67286" y="2889298"/>
            <a:ext cx="64680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err="1" smtClean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Dubbo</a:t>
            </a:r>
            <a:r>
              <a:rPr lang="zh-CN" altLang="en-US" sz="6000" b="1" dirty="0" smtClean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基础概念</a:t>
            </a:r>
            <a:endParaRPr lang="zh-CN" altLang="en-US" sz="60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 advTm="0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311169" y="448147"/>
            <a:ext cx="573895" cy="553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65023" y="198"/>
            <a:ext cx="538090" cy="8386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ea typeface="微软雅黑" panose="020B0503020204020204" pitchFamily="34" charset="-122"/>
              </a:rPr>
              <a:t>1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031210" y="540087"/>
            <a:ext cx="2859757" cy="3692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为什么要使用</a:t>
            </a:r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Dubbo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00783" y="1389594"/>
            <a:ext cx="1044116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just" eaLnBrk="0" hangingPunct="0"/>
            <a:r>
              <a:rPr lang="zh-CN" altLang="en-US" dirty="0"/>
              <a:t>随着互联网的发展，网站应用的规模不断扩大，常规的垂直应用架构已无法应对，分布式服务架构以及流动计算架构</a:t>
            </a:r>
            <a:r>
              <a:rPr lang="zh-CN" altLang="en-US" dirty="0" smtClean="0"/>
              <a:t>势在必行</a:t>
            </a:r>
            <a:endParaRPr lang="en-US" altLang="zh-CN" dirty="0" smtClean="0"/>
          </a:p>
          <a:p>
            <a:pPr lvl="0" algn="just" eaLnBrk="0" hangingPunct="0"/>
            <a:endParaRPr lang="en-US" altLang="zh-CN" dirty="0" smtClean="0"/>
          </a:p>
          <a:p>
            <a:pPr algn="just"/>
            <a:r>
              <a:rPr lang="zh-CN" altLang="en-US" b="1" dirty="0"/>
              <a:t>单一应用架构</a:t>
            </a:r>
            <a:endParaRPr lang="zh-CN" altLang="en-US" b="1" dirty="0"/>
          </a:p>
          <a:p>
            <a:pPr algn="just"/>
            <a:r>
              <a:rPr lang="zh-CN" altLang="en-US" dirty="0"/>
              <a:t>当网站流量很小时，只需一个应用，将所有功能都部署在一起，以减少部署节点和成本。此时，用于简化增删改查工作量的数据访问框架</a:t>
            </a:r>
            <a:r>
              <a:rPr lang="en-US" altLang="zh-CN" dirty="0"/>
              <a:t>(ORM)</a:t>
            </a:r>
            <a:r>
              <a:rPr lang="zh-CN" altLang="en-US" dirty="0"/>
              <a:t>是关键。</a:t>
            </a:r>
            <a:endParaRPr lang="zh-CN" altLang="en-US" dirty="0"/>
          </a:p>
          <a:p>
            <a:pPr algn="just"/>
            <a:r>
              <a:rPr lang="zh-CN" altLang="en-US" b="1" dirty="0"/>
              <a:t>垂直应用架构</a:t>
            </a:r>
            <a:endParaRPr lang="zh-CN" altLang="en-US" b="1" dirty="0"/>
          </a:p>
          <a:p>
            <a:pPr algn="just"/>
            <a:r>
              <a:rPr lang="zh-CN" altLang="en-US" dirty="0"/>
              <a:t>当访问量逐渐增大，单一应用增加机器带来的加速度越来越小，将应用拆成互不相干的几个应用，以提升效率。此时，用于加速前端页面开发的</a:t>
            </a:r>
            <a:r>
              <a:rPr lang="en-US" altLang="zh-CN" dirty="0"/>
              <a:t>Web</a:t>
            </a:r>
            <a:r>
              <a:rPr lang="zh-CN" altLang="en-US" dirty="0"/>
              <a:t>框架</a:t>
            </a:r>
            <a:r>
              <a:rPr lang="en-US" altLang="zh-CN" dirty="0"/>
              <a:t>(MVC)</a:t>
            </a:r>
            <a:r>
              <a:rPr lang="zh-CN" altLang="en-US" dirty="0"/>
              <a:t>是关键。</a:t>
            </a:r>
            <a:endParaRPr lang="zh-CN" altLang="en-US" dirty="0"/>
          </a:p>
          <a:p>
            <a:pPr algn="just"/>
            <a:r>
              <a:rPr lang="zh-CN" altLang="en-US" b="1" dirty="0"/>
              <a:t>分布式服务架构</a:t>
            </a:r>
            <a:endParaRPr lang="zh-CN" altLang="en-US" b="1" dirty="0"/>
          </a:p>
          <a:p>
            <a:pPr algn="just"/>
            <a:r>
              <a:rPr lang="zh-CN" altLang="en-US" dirty="0"/>
              <a:t>当垂直应用越来越多，应用之间交互不可避免，将核心业务抽取出来，作为独立的服务，逐渐形成稳定的服务中心，使前端应用能更快速的响应多变的市场需求。此时，用于提高业务复用及整合的分布式服务框架</a:t>
            </a:r>
            <a:r>
              <a:rPr lang="en-US" altLang="zh-CN" dirty="0"/>
              <a:t>(RPC)</a:t>
            </a:r>
            <a:r>
              <a:rPr lang="zh-CN" altLang="en-US" dirty="0"/>
              <a:t>是关键。</a:t>
            </a:r>
            <a:endParaRPr lang="zh-CN" altLang="en-US" dirty="0"/>
          </a:p>
          <a:p>
            <a:pPr algn="just"/>
            <a:r>
              <a:rPr lang="zh-CN" altLang="en-US" b="1" dirty="0"/>
              <a:t>流动计算架构</a:t>
            </a:r>
            <a:endParaRPr lang="zh-CN" altLang="en-US" b="1" dirty="0"/>
          </a:p>
          <a:p>
            <a:pPr algn="just"/>
            <a:r>
              <a:rPr lang="zh-CN" altLang="en-US" dirty="0"/>
              <a:t>当服务越来越多，容量的评估，小服务资源的浪费等问题逐渐显现，此时需增加一个调度中心基于访问压力实时管理集群容量，提高集群利用率。此时，用于提高机器利用率的资源调度和治理中心</a:t>
            </a:r>
            <a:r>
              <a:rPr lang="en-US" altLang="zh-CN" dirty="0"/>
              <a:t>(SOA)</a:t>
            </a:r>
            <a:r>
              <a:rPr lang="zh-CN" altLang="en-US" dirty="0"/>
              <a:t>是关键。</a:t>
            </a:r>
            <a:endParaRPr lang="zh-CN" altLang="en-US" dirty="0"/>
          </a:p>
          <a:p>
            <a:pPr lvl="0" algn="just" eaLnBrk="0" hangingPunct="0"/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prism isInverted="1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84759" y="1312069"/>
            <a:ext cx="1087320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/>
            <a:r>
              <a:rPr lang="zh-CN" altLang="en-US" b="1" dirty="0"/>
              <a:t>当服务越来越多时，服务 </a:t>
            </a:r>
            <a:r>
              <a:rPr lang="en-US" altLang="zh-CN" b="1" dirty="0"/>
              <a:t>URL </a:t>
            </a:r>
            <a:r>
              <a:rPr lang="zh-CN" altLang="en-US" b="1" dirty="0"/>
              <a:t>配置管理变得非常困难</a:t>
            </a:r>
            <a:r>
              <a:rPr lang="zh-CN" altLang="en-US" b="1" dirty="0" smtClean="0"/>
              <a:t>，硬件</a:t>
            </a:r>
            <a:r>
              <a:rPr lang="zh-CN" altLang="en-US" b="1" dirty="0"/>
              <a:t>负载均衡器的单点压力也越来越大。</a:t>
            </a:r>
            <a:r>
              <a:rPr lang="zh-CN" altLang="en-US" dirty="0"/>
              <a:t> 此时需要一个服务注册中心，动态的注册和发现服务，使服务的位置透明。并通过在消费方获取服务提供方地址列表，实现软负载均衡和 </a:t>
            </a:r>
            <a:r>
              <a:rPr lang="en-US" altLang="zh-CN" dirty="0"/>
              <a:t>Failover</a:t>
            </a:r>
            <a:r>
              <a:rPr lang="zh-CN" altLang="en-US" dirty="0"/>
              <a:t>，降低</a:t>
            </a:r>
            <a:r>
              <a:rPr lang="zh-CN" altLang="en-US" dirty="0" smtClean="0"/>
              <a:t>对硬件</a:t>
            </a:r>
            <a:r>
              <a:rPr lang="zh-CN" altLang="en-US" dirty="0"/>
              <a:t>负载均衡器的依赖，也能减少部分成本。</a:t>
            </a:r>
            <a:endParaRPr lang="zh-CN" altLang="en-US" dirty="0"/>
          </a:p>
          <a:p>
            <a:pPr algn="just"/>
            <a:r>
              <a:rPr lang="zh-CN" altLang="en-US" b="1" dirty="0"/>
              <a:t>当进一步发展，服务间依赖关系变得错踪复杂，甚至分不清哪个应用要在哪个应用之前启动，架构师都不能完整的描述应用的架构关系。</a:t>
            </a:r>
            <a:r>
              <a:rPr lang="zh-CN" altLang="en-US" dirty="0"/>
              <a:t> 这时，需要自动画出应用间的依赖关系图，以帮助架构师理清理关系。</a:t>
            </a:r>
            <a:endParaRPr lang="zh-CN" altLang="en-US" dirty="0"/>
          </a:p>
          <a:p>
            <a:pPr algn="just"/>
            <a:r>
              <a:rPr lang="zh-CN" altLang="en-US" b="1" dirty="0"/>
              <a:t>接着，服务的调用量越来越大，服务的容量问题就暴露出来，这个服务需要多少机器支撑？什么时候该加机器？</a:t>
            </a:r>
            <a:r>
              <a:rPr lang="zh-CN" altLang="en-US" dirty="0"/>
              <a:t> 为了解决这些问题，第一步，要将服务现在每天的调用量，响应时间，都统计出来，作为容量规划的参考指标。其次，要可以动态调整权重，在线上，将某台机器的权重一直加大，并在加大的过程中记录响应时间的变化，直到响应时间到达阀值，记录此时的访问量，再以此访问量乘以机器数反推总容量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  <p:sp>
        <p:nvSpPr>
          <p:cNvPr id="3" name="矩形 2"/>
          <p:cNvSpPr/>
          <p:nvPr/>
        </p:nvSpPr>
        <p:spPr>
          <a:xfrm>
            <a:off x="884759" y="4624437"/>
            <a:ext cx="105851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hangingPunct="0"/>
            <a:r>
              <a:rPr lang="en-US" altLang="zh-CN" dirty="0" err="1" smtClean="0">
                <a:latin typeface="宋体" panose="02010600030101010101" pitchFamily="2" charset="-122"/>
              </a:rPr>
              <a:t>dubbo</a:t>
            </a:r>
            <a:r>
              <a:rPr lang="zh-CN" altLang="en-US" dirty="0"/>
              <a:t>主要是用在大型企业里面，因为大型企业里面系统繁多</a:t>
            </a:r>
            <a:r>
              <a:rPr lang="zh-CN" altLang="en-US" dirty="0" smtClean="0"/>
              <a:t>，业务</a:t>
            </a:r>
            <a:r>
              <a:rPr lang="zh-CN" altLang="en-US" dirty="0"/>
              <a:t>线复杂，而且效率优势非常重要的一块，这里</a:t>
            </a:r>
            <a:r>
              <a:rPr lang="en-US" altLang="zh-CN" dirty="0" err="1"/>
              <a:t>dubbo</a:t>
            </a:r>
            <a:r>
              <a:rPr lang="zh-CN" altLang="en-US" dirty="0" smtClean="0"/>
              <a:t>的优势</a:t>
            </a:r>
            <a:r>
              <a:rPr lang="zh-CN" altLang="en-US" dirty="0"/>
              <a:t>就非常明显了</a:t>
            </a:r>
            <a:endParaRPr lang="en-US" altLang="zh-CN" dirty="0"/>
          </a:p>
          <a:p>
            <a:pPr lvl="0" algn="just" eaLnBrk="0" hangingPunct="0"/>
            <a:r>
              <a:rPr lang="en-US" altLang="zh-CN" dirty="0">
                <a:latin typeface="宋体" panose="02010600030101010101" pitchFamily="2" charset="-122"/>
              </a:rPr>
              <a:t>     </a:t>
            </a:r>
            <a:endParaRPr lang="en-US" altLang="zh-CN" dirty="0">
              <a:latin typeface="宋体" panose="02010600030101010101" pitchFamily="2" charset="-122"/>
            </a:endParaRPr>
          </a:p>
          <a:p>
            <a:pPr algn="just" eaLnBrk="0" hangingPunct="0"/>
            <a:r>
              <a:rPr lang="zh-CN" altLang="en-US" b="1" dirty="0">
                <a:solidFill>
                  <a:srgbClr val="FF0000"/>
                </a:solidFill>
              </a:rPr>
              <a:t>同步调用与异步调用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prism isInverted="1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311169" y="448147"/>
            <a:ext cx="573895" cy="553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65023" y="198"/>
            <a:ext cx="538090" cy="8386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ea typeface="微软雅黑" panose="020B0503020204020204" pitchFamily="34" charset="-122"/>
              </a:rPr>
              <a:t>2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037621" y="540087"/>
            <a:ext cx="1628651" cy="3692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Dubbo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架构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935" y="1001232"/>
            <a:ext cx="7848872" cy="59831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prism isInverted="1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189015" y="375965"/>
          <a:ext cx="6553250" cy="3333408"/>
        </p:xfrm>
        <a:graphic>
          <a:graphicData uri="http://schemas.openxmlformats.org/drawingml/2006/table">
            <a:tbl>
              <a:tblPr/>
              <a:tblGrid>
                <a:gridCol w="3276625"/>
                <a:gridCol w="3276625"/>
              </a:tblGrid>
              <a:tr h="432048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节点</a:t>
                      </a:r>
                      <a:endParaRPr lang="zh-CN" alt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角色说明</a:t>
                      </a:r>
                      <a:endParaRPr lang="zh-CN" alt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0188">
                <a:tc>
                  <a:txBody>
                    <a:bodyPr/>
                    <a:lstStyle/>
                    <a:p>
                      <a:r>
                        <a:rPr lang="en-US" sz="1800"/>
                        <a:t>Provider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暴露服务的服务提供方</a:t>
                      </a:r>
                      <a:endParaRPr lang="zh-CN" alt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0328">
                <a:tc>
                  <a:txBody>
                    <a:bodyPr/>
                    <a:lstStyle/>
                    <a:p>
                      <a:r>
                        <a:rPr lang="en-US" sz="1800"/>
                        <a:t>Consumer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调用远程服务的服务消费方</a:t>
                      </a:r>
                      <a:endParaRPr lang="zh-CN" alt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0328">
                <a:tc>
                  <a:txBody>
                    <a:bodyPr/>
                    <a:lstStyle/>
                    <a:p>
                      <a:r>
                        <a:rPr lang="en-US" sz="1800"/>
                        <a:t>Registry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服务注册与发现的注册中心</a:t>
                      </a:r>
                      <a:endParaRPr lang="zh-CN" alt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0328">
                <a:tc>
                  <a:txBody>
                    <a:bodyPr/>
                    <a:lstStyle/>
                    <a:p>
                      <a:r>
                        <a:rPr lang="en-US" sz="1800"/>
                        <a:t>Monitor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统计服务的调用次数和调用时间的监控中心</a:t>
                      </a:r>
                      <a:endParaRPr lang="zh-CN" alt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0188">
                <a:tc>
                  <a:txBody>
                    <a:bodyPr/>
                    <a:lstStyle/>
                    <a:p>
                      <a:r>
                        <a:rPr lang="en-US" sz="1800"/>
                        <a:t>Container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服务运行容器</a:t>
                      </a:r>
                      <a:endParaRPr lang="zh-CN" alt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3189015" y="4192389"/>
            <a:ext cx="6429375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altLang="zh-CN" dirty="0" smtClean="0"/>
              <a:t>0.</a:t>
            </a:r>
            <a:r>
              <a:rPr lang="zh-CN" altLang="en-US" dirty="0" smtClean="0"/>
              <a:t>服务</a:t>
            </a:r>
            <a:r>
              <a:rPr lang="zh-CN" altLang="en-US" dirty="0"/>
              <a:t>容器负责启动，加载，运行服务提供者。</a:t>
            </a:r>
            <a:endParaRPr lang="zh-CN" altLang="en-US" dirty="0"/>
          </a:p>
          <a:p>
            <a:pPr algn="just">
              <a:buFont typeface="+mj-lt"/>
              <a:buAutoNum type="arabicPeriod"/>
            </a:pPr>
            <a:r>
              <a:rPr lang="zh-CN" altLang="en-US" dirty="0"/>
              <a:t>服务提供者在启动时，向注册中心注册自己提供的服务。</a:t>
            </a:r>
            <a:endParaRPr lang="zh-CN" altLang="en-US" dirty="0"/>
          </a:p>
          <a:p>
            <a:pPr algn="just">
              <a:buFont typeface="+mj-lt"/>
              <a:buAutoNum type="arabicPeriod"/>
            </a:pPr>
            <a:r>
              <a:rPr lang="zh-CN" altLang="en-US" dirty="0"/>
              <a:t>服务消费者在启动时，向注册中心订阅自己所需的服务。</a:t>
            </a:r>
            <a:endParaRPr lang="zh-CN" altLang="en-US" dirty="0"/>
          </a:p>
          <a:p>
            <a:pPr algn="just">
              <a:buFont typeface="+mj-lt"/>
              <a:buAutoNum type="arabicPeriod"/>
            </a:pPr>
            <a:r>
              <a:rPr lang="zh-CN" altLang="en-US" dirty="0"/>
              <a:t>注册中心返回服务提供者地址列表给消费者，如果有变更，注册中心将基于长连接推送变更数据给消费者。</a:t>
            </a:r>
            <a:endParaRPr lang="zh-CN" altLang="en-US" dirty="0"/>
          </a:p>
          <a:p>
            <a:pPr algn="just">
              <a:buFont typeface="+mj-lt"/>
              <a:buAutoNum type="arabicPeriod"/>
            </a:pPr>
            <a:r>
              <a:rPr lang="zh-CN" altLang="en-US" dirty="0"/>
              <a:t>服务消费者，从提供者地址列表中，基于软负载均衡算法，选一台提供者进行调用，如果调用失败，再选另一台调用。</a:t>
            </a:r>
            <a:endParaRPr lang="zh-CN" altLang="en-US" dirty="0"/>
          </a:p>
          <a:p>
            <a:pPr algn="just">
              <a:buFont typeface="+mj-lt"/>
              <a:buAutoNum type="arabicPeriod"/>
            </a:pPr>
            <a:r>
              <a:rPr lang="zh-CN" altLang="en-US" dirty="0"/>
              <a:t>服务消费者和提供者，在内存中累计调用次数和调用时间，定时每分钟发送一次统计数据到监控中心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prism isInverted="1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813564" y="1512448"/>
            <a:ext cx="4333687" cy="37693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7200" b="1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</a:t>
            </a:r>
            <a:r>
              <a:rPr lang="en-US" altLang="zh-CN" sz="23895" b="1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endParaRPr lang="zh-CN" altLang="en-US" sz="23895" b="1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42890" y="2889298"/>
            <a:ext cx="4955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err="1" smtClean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Dubbo</a:t>
            </a:r>
            <a:r>
              <a:rPr lang="zh-CN" altLang="en-US" sz="6000" b="1" dirty="0" smtClean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怎么玩</a:t>
            </a:r>
            <a:endParaRPr lang="zh-CN" altLang="en-US" sz="6000" b="1" dirty="0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 advTm="0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8"/>
          <p:cNvSpPr txBox="1"/>
          <p:nvPr/>
        </p:nvSpPr>
        <p:spPr>
          <a:xfrm>
            <a:off x="2180903" y="2968253"/>
            <a:ext cx="8849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 err="1" smtClean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Dubbo</a:t>
            </a:r>
            <a:r>
              <a:rPr lang="zh-CN" altLang="en-US" sz="6000" b="1" dirty="0" smtClean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示例</a:t>
            </a:r>
            <a:endParaRPr lang="zh-CN" altLang="en-US" sz="6000" b="1" dirty="0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311169" y="448147"/>
            <a:ext cx="573895" cy="553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5023" y="198"/>
            <a:ext cx="538090" cy="8386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ea typeface="微软雅黑" panose="020B0503020204020204" pitchFamily="34" charset="-122"/>
              </a:rPr>
              <a:t>1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36072" y="540087"/>
            <a:ext cx="4584588" cy="3692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Dubbo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使用条件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默认</a:t>
            </a:r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dubbo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协议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89015" y="909291"/>
            <a:ext cx="72008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使用</a:t>
            </a:r>
            <a:r>
              <a:rPr lang="en-US" altLang="zh-CN" dirty="0" smtClean="0">
                <a:solidFill>
                  <a:srgbClr val="FF0000"/>
                </a:solidFill>
                <a:latin typeface="Consolas" panose="020B0609020204030204" pitchFamily="49" charset="0"/>
              </a:rPr>
              <a:t>maven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工程</a:t>
            </a:r>
            <a:endParaRPr lang="en-US" altLang="zh-CN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使用注册中心</a:t>
            </a:r>
            <a:r>
              <a:rPr lang="en-US" altLang="zh-CN" dirty="0" smtClean="0">
                <a:solidFill>
                  <a:srgbClr val="FF0000"/>
                </a:solidFill>
                <a:latin typeface="Consolas" panose="020B0609020204030204" pitchFamily="49" charset="0"/>
              </a:rPr>
              <a:t>zookeeper</a:t>
            </a:r>
            <a:endParaRPr lang="en-US" altLang="zh-CN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导入</a:t>
            </a:r>
            <a:r>
              <a:rPr lang="en-US" altLang="zh-CN" dirty="0" smtClean="0">
                <a:solidFill>
                  <a:srgbClr val="FF0000"/>
                </a:solidFill>
                <a:latin typeface="Consolas" panose="020B0609020204030204" pitchFamily="49" charset="0"/>
              </a:rPr>
              <a:t>jar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包</a:t>
            </a:r>
            <a:endParaRPr lang="en-US" altLang="zh-CN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endParaRPr lang="en-US" altLang="zh-CN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&lt;!-- 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dubbo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--&gt;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&lt;dependency&gt;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&lt;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groupId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com.alibaba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groupId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  &lt;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artifactId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dubbo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artifactId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  &lt;version&gt;2.5.8&lt;/version&gt;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&lt;/dependency&gt;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&lt;!-- zookeeper</a:t>
            </a:r>
            <a:r>
              <a:rPr lang="zh-CN" altLang="en-US" dirty="0">
                <a:solidFill>
                  <a:srgbClr val="008080"/>
                </a:solidFill>
                <a:latin typeface="Consolas" panose="020B0609020204030204" pitchFamily="49" charset="0"/>
              </a:rPr>
              <a:t>客户端驱动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&lt;dependency&gt;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  &lt;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groupId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org.apache.zookeeper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groupId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 &lt;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artifactId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&gt;zookeeper&lt;/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artifactId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  &lt;version&gt;3.4.6&lt;/version&gt;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&lt;/dependency&gt;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&lt;!--  zookeeper</a:t>
            </a:r>
            <a:r>
              <a:rPr lang="zh-CN" altLang="en-US" dirty="0">
                <a:solidFill>
                  <a:srgbClr val="008080"/>
                </a:solidFill>
                <a:latin typeface="Consolas" panose="020B0609020204030204" pitchFamily="49" charset="0"/>
              </a:rPr>
              <a:t>客户端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zkclient</a:t>
            </a:r>
            <a:r>
              <a:rPr lang="zh-CN" altLang="en-US" dirty="0">
                <a:solidFill>
                  <a:srgbClr val="008080"/>
                </a:solidFill>
                <a:latin typeface="Consolas" panose="020B0609020204030204" pitchFamily="49" charset="0"/>
              </a:rPr>
              <a:t>驱动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--&gt;</a:t>
            </a:r>
            <a:r>
              <a:rPr lang="zh-CN" altLang="en-US" dirty="0">
                <a:solidFill>
                  <a:srgbClr val="008080"/>
                </a:solidFill>
                <a:latin typeface="Consolas" panose="020B0609020204030204" pitchFamily="49" charset="0"/>
              </a:rPr>
              <a:t>  </a:t>
            </a:r>
            <a:endParaRPr lang="zh-CN" altLang="en-US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&lt;dependency&gt;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 &lt;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groupId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com.github.sgroschupf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groupId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  &lt;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artifactId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zkclient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artifactId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  &lt;version&gt;0.1&lt;/version&gt;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&lt;/dependency&gt;</a:t>
            </a:r>
            <a:endParaRPr lang="zh-CN" altLang="en-US" dirty="0">
              <a:solidFill>
                <a:srgbClr val="00808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311169" y="448147"/>
            <a:ext cx="573895" cy="553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5023" y="198"/>
            <a:ext cx="538090" cy="8386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anose="020B0503020204020204" pitchFamily="34" charset="-122"/>
              </a:rPr>
              <a:t>2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52877" y="540087"/>
            <a:ext cx="4892365" cy="3692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Dubbo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解析生产者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默认</a:t>
            </a:r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dubbo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协议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28975" y="2104157"/>
            <a:ext cx="849694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因为使用的是</a:t>
            </a:r>
            <a:r>
              <a:rPr lang="en-US" altLang="zh-CN" dirty="0" smtClean="0">
                <a:solidFill>
                  <a:srgbClr val="FF0000"/>
                </a:solidFill>
                <a:latin typeface="Consolas" panose="020B0609020204030204" pitchFamily="49" charset="0"/>
              </a:rPr>
              <a:t>maven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工程 可以将接口单独创建一个工程 方便生产者和消费者依赖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endParaRPr lang="en-US" altLang="zh-CN" dirty="0" smtClean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定义</a:t>
            </a:r>
            <a:r>
              <a:rPr lang="en-US" altLang="zh-CN" dirty="0" err="1">
                <a:solidFill>
                  <a:srgbClr val="3F7F5F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生产者接口，将接口暴露给消费者</a:t>
            </a:r>
            <a:endParaRPr lang="zh-CN" altLang="en-US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interface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接口名称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定义业务接口方法</a:t>
            </a:r>
            <a:endParaRPr lang="zh-CN" altLang="en-US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public</a:t>
            </a:r>
            <a:r>
              <a:rPr lang="zh-CN" alt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返回值类型 方法名称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参数类型 </a:t>
            </a:r>
            <a:r>
              <a:rPr lang="zh-CN" alt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参数变量名称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中定义方法参数时，如果是对象需要将对象序列化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对象 </a:t>
            </a:r>
            <a:r>
              <a:rPr lang="en-US" altLang="zh-CN" dirty="0" smtClean="0">
                <a:solidFill>
                  <a:srgbClr val="FF0000"/>
                </a:solidFill>
                <a:latin typeface="Consolas" panose="020B0609020204030204" pitchFamily="49" charset="0"/>
              </a:rPr>
              <a:t>implements </a:t>
            </a:r>
            <a:r>
              <a:rPr lang="en-US" altLang="zh-CN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Serializable</a:t>
            </a:r>
            <a:r>
              <a:rPr lang="en-US" altLang="zh-CN" dirty="0" smtClean="0">
                <a:solidFill>
                  <a:srgbClr val="FF0000"/>
                </a:solidFill>
                <a:latin typeface="Consolas" panose="020B0609020204030204" pitchFamily="49" charset="0"/>
              </a:rPr>
              <a:t>{}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14688" y="2323664"/>
            <a:ext cx="724713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en-US" altLang="zh-CN" dirty="0" err="1">
                <a:solidFill>
                  <a:srgbClr val="3F7F5F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生产者实现类</a:t>
            </a:r>
            <a:endParaRPr lang="zh-CN" altLang="en-US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接口实现类名称 </a:t>
            </a:r>
            <a:r>
              <a:rPr lang="en-US" altLang="zh-CN" b="1" dirty="0">
                <a:solidFill>
                  <a:srgbClr val="7F0055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zh-CN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接口名称 </a:t>
            </a:r>
            <a:r>
              <a:rPr lang="en-US" altLang="zh-CN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{</a:t>
            </a:r>
            <a:endParaRPr lang="en-US" altLang="zh-CN" b="1" dirty="0">
              <a:solidFill>
                <a:srgbClr val="000000"/>
              </a:solidFill>
              <a:highlight>
                <a:srgbClr val="D4D4D4"/>
              </a:highlight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  <a:endParaRPr lang="en-US" altLang="zh-CN" dirty="0">
              <a:solidFill>
                <a:srgbClr val="646464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返回类型 方法名称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参数类型  </a:t>
            </a:r>
            <a:r>
              <a:rPr lang="zh-CN" alt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参数变量名称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 algn="just"/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业务逻辑</a:t>
            </a:r>
            <a:endParaRPr lang="zh-CN" altLang="en-US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2" algn="just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返回类型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实现多个方法</a:t>
            </a:r>
            <a:endParaRPr lang="zh-CN" altLang="en-US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1566" y="303957"/>
            <a:ext cx="106571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1400" dirty="0"/>
          </a:p>
        </p:txBody>
      </p:sp>
      <p:sp>
        <p:nvSpPr>
          <p:cNvPr id="6" name="矩形 5"/>
          <p:cNvSpPr/>
          <p:nvPr/>
        </p:nvSpPr>
        <p:spPr>
          <a:xfrm>
            <a:off x="2192636" y="736005"/>
            <a:ext cx="1008112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通过</a:t>
            </a:r>
            <a:r>
              <a:rPr lang="en-US" altLang="zh-CN" dirty="0" smtClean="0">
                <a:solidFill>
                  <a:srgbClr val="FF0000"/>
                </a:solidFill>
                <a:latin typeface="Consolas" panose="020B0609020204030204" pitchFamily="49" charset="0"/>
              </a:rPr>
              <a:t>spring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定义</a:t>
            </a:r>
            <a:r>
              <a:rPr lang="en-US" altLang="zh-CN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生产者配置</a:t>
            </a:r>
            <a:endParaRPr lang="en-US" altLang="zh-CN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endParaRPr lang="en-US" altLang="zh-CN" dirty="0" smtClean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&lt;?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xml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version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"1.0" </a:t>
            </a:r>
            <a:r>
              <a:rPr lang="en-US" altLang="zh-CN" i="1" dirty="0">
                <a:solidFill>
                  <a:srgbClr val="7F007F"/>
                </a:solidFill>
                <a:latin typeface="Consolas" panose="020B0609020204030204" pitchFamily="49" charset="0"/>
              </a:rPr>
              <a:t>encoding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"UTF-8"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?&gt;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beans </a:t>
            </a:r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xmlns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"http://www.springframework.org/schema/beans"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xmlns:xsi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"http://www.w3.org/2001/XMLSchema-instance"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xmlns:dubbo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"http://code.alibabatech.com/schema/</a:t>
            </a:r>
            <a:r>
              <a:rPr lang="en-US" altLang="zh-CN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dubbo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xsi:schemaLocation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"http://www.springframework.org/schema/beans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    http://www.springframework.org/schema/beans/spring-beans.xsd       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    http://code.alibabatech.com/schema/dubbo       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    http://code.alibabatech.com/schema/dubbo/dubbo.xsd"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dirty="0"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smtClean="0">
                <a:solidFill>
                  <a:srgbClr val="3F5FBF"/>
                </a:solidFill>
                <a:latin typeface="Consolas" panose="020B0609020204030204" pitchFamily="49" charset="0"/>
              </a:rPr>
              <a:t>		</a:t>
            </a:r>
            <a:r>
              <a:rPr lang="zh-CN" altLang="en-US" dirty="0" smtClean="0">
                <a:solidFill>
                  <a:srgbClr val="3F5FBF"/>
                </a:solidFill>
                <a:latin typeface="Consolas" panose="020B0609020204030204" pitchFamily="49" charset="0"/>
              </a:rPr>
              <a:t>提供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方应用信息，用于计算依赖关系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dubbo:application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工程名称命名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 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使用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zookeeper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注册中心暴露服务地址 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例如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address="zookeeper://127.0.0.1:2181"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dubbo:registry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address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"zookeeper</a:t>
            </a:r>
            <a:r>
              <a:rPr lang="zh-CN" altLang="en-US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地址</a:t>
            </a:r>
            <a:r>
              <a:rPr lang="en-US" altLang="zh-CN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altLang="zh-CN" i="1" dirty="0" smtClean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44999" y="519981"/>
            <a:ext cx="746315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  &lt;!-- 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用</a:t>
            </a:r>
            <a:r>
              <a:rPr lang="en-US" altLang="zh-CN" dirty="0" err="1">
                <a:solidFill>
                  <a:srgbClr val="3F5FBF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协议在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20880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端口暴露服务 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name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表示定义的协议  默认</a:t>
            </a:r>
            <a:r>
              <a:rPr lang="en-US" altLang="zh-CN" dirty="0" err="1">
                <a:solidFill>
                  <a:srgbClr val="3F5FBF"/>
                </a:solidFill>
                <a:latin typeface="Consolas" panose="020B0609020204030204" pitchFamily="49" charset="0"/>
              </a:rPr>
              <a:t>dubbo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port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表示定义的端口号 默认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20880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it-IT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it-IT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it-IT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dubbo:protocol </a:t>
            </a:r>
            <a:r>
              <a:rPr lang="it-IT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it-IT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it-IT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"dubbo" </a:t>
            </a:r>
            <a:r>
              <a:rPr lang="it-IT" altLang="zh-CN" i="1" dirty="0">
                <a:solidFill>
                  <a:srgbClr val="7F007F"/>
                </a:solidFill>
                <a:latin typeface="Consolas" panose="020B0609020204030204" pitchFamily="49" charset="0"/>
              </a:rPr>
              <a:t>port</a:t>
            </a:r>
            <a:r>
              <a:rPr lang="it-IT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it-IT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"20880" </a:t>
            </a:r>
            <a:r>
              <a:rPr lang="it-IT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it-IT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声明需要暴露的服务接口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    interface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表示生产者暴露给消费者的接口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ref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表示引入某个生产者，并且发布生产者实现类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,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但是暴露接口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dubbo:service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endParaRPr lang="en-US" altLang="zh-CN" dirty="0">
              <a:solidFill>
                <a:srgbClr val="3F7F7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smtClean="0">
                <a:latin typeface="Consolas" panose="020B0609020204030204" pitchFamily="49" charset="0"/>
              </a:rPr>
              <a:t>	</a:t>
            </a:r>
            <a:r>
              <a:rPr lang="en-US" altLang="zh-CN" dirty="0" smtClean="0">
                <a:solidFill>
                  <a:srgbClr val="7F007F"/>
                </a:solidFill>
                <a:latin typeface="Consolas" panose="020B0609020204030204" pitchFamily="49" charset="0"/>
              </a:rPr>
              <a:t>interface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接口名称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 smtClean="0">
                <a:latin typeface="Consolas" panose="020B0609020204030204" pitchFamily="49" charset="0"/>
              </a:rPr>
              <a:t>	</a:t>
            </a:r>
            <a:r>
              <a:rPr lang="en-US" altLang="zh-CN" dirty="0" smtClean="0">
                <a:solidFill>
                  <a:srgbClr val="7F007F"/>
                </a:solidFill>
                <a:latin typeface="Consolas" panose="020B0609020204030204" pitchFamily="49" charset="0"/>
              </a:rPr>
              <a:t>ref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生产者实现类别名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和本地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bean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一样实现服务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bean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生产者实现类别名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 smtClean="0">
                <a:latin typeface="Consolas" panose="020B0609020204030204" pitchFamily="49" charset="0"/>
              </a:rPr>
              <a:t>	   </a:t>
            </a:r>
            <a:r>
              <a:rPr lang="en-US" altLang="zh-CN" dirty="0" smtClean="0">
                <a:solidFill>
                  <a:srgbClr val="7F007F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需要实例化的生产者实现类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dirty="0"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beans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32831" y="1096045"/>
            <a:ext cx="972107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altLang="zh-CN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在运行生产者服务时，先启动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zookeeper</a:t>
            </a:r>
            <a:r>
              <a:rPr lang="zh-CN" alt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服务端，</a:t>
            </a:r>
            <a:endParaRPr lang="en-US" altLang="zh-CN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为了让生产者接口和请求地址注册到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zookeeper</a:t>
            </a:r>
            <a:r>
              <a:rPr lang="zh-CN" alt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中；</a:t>
            </a:r>
            <a:endParaRPr lang="en-US" altLang="zh-CN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这时再去运行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Provider</a:t>
            </a:r>
            <a:r>
              <a:rPr lang="zh-CN" alt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类；</a:t>
            </a:r>
            <a:endParaRPr lang="en-US" altLang="zh-CN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再开启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zookeeper</a:t>
            </a:r>
            <a:r>
              <a:rPr lang="zh-CN" alt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客户端查看信息是否注册成功</a:t>
            </a:r>
            <a:endParaRPr lang="en-US" altLang="zh-CN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输入命令：</a:t>
            </a:r>
            <a:r>
              <a:rPr lang="en-US" altLang="zh-CN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ls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/</a:t>
            </a:r>
            <a:r>
              <a:rPr lang="en-US" altLang="zh-CN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dubbo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zh-CN" alt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查看注册接口</a:t>
            </a:r>
            <a:endParaRPr lang="en-US" altLang="zh-CN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endParaRPr lang="en-US" altLang="zh-CN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endParaRPr lang="en-US" altLang="zh-CN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endParaRPr lang="en-US" altLang="zh-CN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Provider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altLang="zh-CN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ClassPathXmlApplicationContext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6A3E3E"/>
                </a:solidFill>
                <a:latin typeface="Consolas" panose="020B0609020204030204" pitchFamily="49" charset="0"/>
              </a:rPr>
              <a:t>context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ClassPathXmlApplicationContext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2A00FF"/>
                </a:solidFill>
                <a:latin typeface="Consolas" panose="020B0609020204030204" pitchFamily="49" charset="0"/>
              </a:rPr>
              <a:t>"spring</a:t>
            </a:r>
            <a:r>
              <a:rPr lang="zh-CN" alt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配置</a:t>
            </a:r>
            <a:r>
              <a:rPr lang="en-US" altLang="zh-CN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生产者</a:t>
            </a:r>
            <a:r>
              <a:rPr lang="en-US" altLang="zh-CN" b="1" dirty="0">
                <a:solidFill>
                  <a:srgbClr val="2A00FF"/>
                </a:solidFill>
                <a:latin typeface="Consolas" panose="020B0609020204030204" pitchFamily="49" charset="0"/>
              </a:rPr>
              <a:t>.xml"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context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.start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altLang="zh-CN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.read</a:t>
            </a:r>
            <a:r>
              <a:rPr lang="en-US" altLang="zh-CN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altLang="zh-CN" b="1" i="1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b="1" i="1" dirty="0">
                <a:solidFill>
                  <a:srgbClr val="3F7F5F"/>
                </a:solidFill>
                <a:latin typeface="Consolas" panose="020B0609020204030204" pitchFamily="49" charset="0"/>
              </a:rPr>
              <a:t>按任意键退出</a:t>
            </a:r>
            <a:endParaRPr lang="zh-CN" altLang="en-US" b="1" i="1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415" y="1384077"/>
            <a:ext cx="2248214" cy="16004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311169" y="448147"/>
            <a:ext cx="573895" cy="553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5023" y="198"/>
            <a:ext cx="538090" cy="8386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anose="020B0503020204020204" pitchFamily="34" charset="-122"/>
              </a:rPr>
              <a:t>3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31210" y="540087"/>
            <a:ext cx="4892365" cy="3692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240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Dubbo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解析消费者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默认</a:t>
            </a:r>
            <a:r>
              <a:rPr lang="en-US" altLang="zh-CN" sz="240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dubbo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协议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17007" y="1528093"/>
            <a:ext cx="76328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 smtClean="0">
                <a:solidFill>
                  <a:srgbClr val="FF0000"/>
                </a:solidFill>
              </a:rPr>
              <a:t>消费者工程也是</a:t>
            </a:r>
            <a:r>
              <a:rPr lang="en-US" altLang="zh-CN" dirty="0" smtClean="0">
                <a:solidFill>
                  <a:srgbClr val="FF0000"/>
                </a:solidFill>
              </a:rPr>
              <a:t>maven</a:t>
            </a:r>
            <a:r>
              <a:rPr lang="zh-CN" altLang="en-US" dirty="0" smtClean="0">
                <a:solidFill>
                  <a:srgbClr val="FF0000"/>
                </a:solidFill>
              </a:rPr>
              <a:t>工程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algn="just"/>
            <a:r>
              <a:rPr lang="zh-CN" altLang="en-US" dirty="0" smtClean="0">
                <a:solidFill>
                  <a:srgbClr val="FF0000"/>
                </a:solidFill>
              </a:rPr>
              <a:t>消费者和生产者引入</a:t>
            </a:r>
            <a:r>
              <a:rPr lang="en-US" altLang="zh-CN" dirty="0" smtClean="0">
                <a:solidFill>
                  <a:srgbClr val="FF0000"/>
                </a:solidFill>
              </a:rPr>
              <a:t>jar</a:t>
            </a:r>
            <a:r>
              <a:rPr lang="zh-CN" altLang="en-US" dirty="0" smtClean="0">
                <a:solidFill>
                  <a:srgbClr val="FF0000"/>
                </a:solidFill>
              </a:rPr>
              <a:t>包一致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algn="just"/>
            <a:r>
              <a:rPr lang="zh-CN" altLang="en-US" dirty="0" smtClean="0">
                <a:solidFill>
                  <a:srgbClr val="FF0000"/>
                </a:solidFill>
              </a:rPr>
              <a:t>这个时候消费者需要依赖生产者暴露的接口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algn="just"/>
            <a:r>
              <a:rPr lang="zh-CN" altLang="en-US" dirty="0" smtClean="0">
                <a:solidFill>
                  <a:srgbClr val="FF0000"/>
                </a:solidFill>
              </a:rPr>
              <a:t>（如果接口是一个独立工程可以依赖）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algn="just"/>
            <a:r>
              <a:rPr lang="zh-CN" altLang="en-US" dirty="0" smtClean="0">
                <a:solidFill>
                  <a:srgbClr val="FF0000"/>
                </a:solidFill>
              </a:rPr>
              <a:t>或者自定义接口，需要和生产者提供的接口一致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972991" y="3328293"/>
            <a:ext cx="875930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通过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spring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定义</a:t>
            </a:r>
            <a:r>
              <a:rPr lang="en-US" altLang="zh-CN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消费者配置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endParaRPr lang="en-US" altLang="zh-CN" dirty="0" smtClean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&lt;?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xml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version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"1.0" </a:t>
            </a:r>
            <a:r>
              <a:rPr lang="en-US" altLang="zh-CN" i="1" dirty="0">
                <a:solidFill>
                  <a:srgbClr val="7F007F"/>
                </a:solidFill>
                <a:latin typeface="Consolas" panose="020B0609020204030204" pitchFamily="49" charset="0"/>
              </a:rPr>
              <a:t>encoding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"UTF-8"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?&gt;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beans </a:t>
            </a:r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xmlns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"http://www.springframework.org/schema/beans"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xmlns:xsi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"http://www.w3.org/2001/XMLSchema-instance"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xmlns:dubbo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"http://code.alibabatech.com/schema/</a:t>
            </a:r>
            <a:r>
              <a:rPr lang="en-US" altLang="zh-CN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dubbo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xsi:schemaLocation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"http://www.springframework.org/schema/beans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    http://www.springframework.org/schema/beans/spring-beans.xsd       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    http://code.alibabatech.com/schema/dubbo       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    http://code.alibabatech.com/schema/dubbo/dubbo.xsd"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消费方应用名，用于计算依赖关系，不是匹配条件，不要与提供方一样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dubbo:application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工程名称命名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 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0">
        <p14:warp dir="in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468935" y="1168053"/>
            <a:ext cx="928903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   &lt;!-- 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使用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zookeeper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注册调用暴露服务地址 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例如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address="zookeeper://127.0.0.1:2181"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dubbo:registry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address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"zookeeper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地址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生成远程服务代理，可以和本地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bean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一样</a:t>
            </a:r>
            <a:r>
              <a:rPr lang="zh-CN" altLang="en-US" dirty="0" smtClean="0">
                <a:solidFill>
                  <a:srgbClr val="3F5FBF"/>
                </a:solidFill>
                <a:latin typeface="Consolas" panose="020B0609020204030204" pitchFamily="49" charset="0"/>
              </a:rPr>
              <a:t>使用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接口为什么能创建对象？ 动态代理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dubbo:reference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endParaRPr lang="en-US" altLang="zh-CN" dirty="0">
              <a:solidFill>
                <a:srgbClr val="3F7F7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interface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消费者调用生产者暴露的接口（这个接口有可能依赖，有可能自定义）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“</a:t>
            </a:r>
            <a:r>
              <a:rPr lang="zh-CN" altLang="en-US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消费者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别名，哪里业务需要使用</a:t>
            </a:r>
            <a:r>
              <a:rPr lang="zh-CN" altLang="en-US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消费者，注入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即可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beans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0">
        <p14:warp dir="in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04839" y="1600101"/>
            <a:ext cx="907300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Consumer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altLang="zh-CN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ClassPathXmlApplicationContext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6A3E3E"/>
                </a:solidFill>
                <a:latin typeface="Consolas" panose="020B0609020204030204" pitchFamily="49" charset="0"/>
              </a:rPr>
              <a:t>context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ClassPathXmlApplicationContext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spring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配置</a:t>
            </a:r>
            <a:r>
              <a:rPr lang="en-US" altLang="zh-CN" dirty="0" err="1">
                <a:solidFill>
                  <a:srgbClr val="2A00FF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消费者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.xml</a:t>
            </a:r>
            <a:r>
              <a:rPr lang="en-US" altLang="zh-CN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context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.start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2A00FF"/>
                </a:solidFill>
                <a:latin typeface="Consolas" panose="020B0609020204030204" pitchFamily="49" charset="0"/>
              </a:rPr>
              <a:t>dubbo:reference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interface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属性接口类型 </a:t>
            </a:r>
            <a:r>
              <a:rPr lang="zh-CN" altLang="en-US" dirty="0">
                <a:solidFill>
                  <a:srgbClr val="6A3E3E"/>
                </a:solidFill>
                <a:latin typeface="Consolas" panose="020B0609020204030204" pitchFamily="49" charset="0"/>
              </a:rPr>
              <a:t>别名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(</a:t>
            </a:r>
            <a:r>
              <a:rPr lang="en-US" altLang="zh-CN" dirty="0" err="1">
                <a:solidFill>
                  <a:srgbClr val="2A00FF"/>
                </a:solidFill>
                <a:latin typeface="Consolas" panose="020B0609020204030204" pitchFamily="49" charset="0"/>
              </a:rPr>
              <a:t>dubbo:reference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interface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属性接口类型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context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.getBean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引入</a:t>
            </a:r>
            <a:r>
              <a:rPr lang="en-US" altLang="zh-CN" dirty="0" err="1">
                <a:solidFill>
                  <a:srgbClr val="2A00FF"/>
                </a:solidFill>
                <a:latin typeface="Consolas" panose="020B0609020204030204" pitchFamily="49" charset="0"/>
              </a:rPr>
              <a:t>dubbo:reference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id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属性别名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获取远程服务代理</a:t>
            </a:r>
            <a:endParaRPr lang="zh-CN" altLang="en-US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zh-CN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返回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类型 </a:t>
            </a:r>
            <a:r>
              <a:rPr lang="en-US" altLang="zh-CN" dirty="0">
                <a:solidFill>
                  <a:srgbClr val="6A3E3E"/>
                </a:solidFill>
                <a:latin typeface="Consolas" panose="020B0609020204030204" pitchFamily="49" charset="0"/>
              </a:rPr>
              <a:t>result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zh-CN" altLang="en-US" dirty="0">
                <a:solidFill>
                  <a:srgbClr val="6A3E3E"/>
                </a:solidFill>
                <a:latin typeface="Consolas" panose="020B0609020204030204" pitchFamily="49" charset="0"/>
              </a:rPr>
              <a:t>别名调用方法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参数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0">
        <p14:warp dir="in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矩形 244"/>
          <p:cNvSpPr/>
          <p:nvPr/>
        </p:nvSpPr>
        <p:spPr>
          <a:xfrm>
            <a:off x="311169" y="448147"/>
            <a:ext cx="573895" cy="553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165023" y="198"/>
            <a:ext cx="538090" cy="8386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anose="020B0503020204020204" pitchFamily="34" charset="-122"/>
              </a:rPr>
              <a:t>4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1061782" y="540087"/>
            <a:ext cx="2207336" cy="3692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dubbo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解析注解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68935" y="2104157"/>
            <a:ext cx="796721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官方：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如果你曾使用旧版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annotation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配置，请删除所有相关配置，我们将在下个版本删除所有旧版配置项。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dirty="0"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dubbo:annotation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package</a:t>
            </a:r>
            <a:r>
              <a:rPr lang="en-US" altLang="zh-C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“</a:t>
            </a:r>
            <a:r>
              <a:rPr lang="en-US" altLang="zh-CN" i="1" dirty="0" err="1" smtClean="0">
                <a:solidFill>
                  <a:srgbClr val="2A00FF"/>
                </a:solidFill>
                <a:latin typeface="Consolas" panose="020B0609020204030204" pitchFamily="49" charset="0"/>
              </a:rPr>
              <a:t>com.etoak.dubbo</a:t>
            </a:r>
            <a:r>
              <a:rPr lang="en-US" altLang="zh-CN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altLang="zh-CN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dirty="0">
              <a:latin typeface="Consolas" panose="020B0609020204030204" pitchFamily="49" charset="0"/>
            </a:endParaRPr>
          </a:p>
          <a:p>
            <a:pPr algn="just"/>
            <a:endParaRPr lang="zh-CN" altLang="en-US" dirty="0"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2.5.7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及以上版本支持</a:t>
            </a:r>
            <a:r>
              <a:rPr lang="en-US" altLang="zh-CN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springboot</a:t>
            </a:r>
            <a:endParaRPr lang="en-US" altLang="zh-CN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如果使用注解版，需要在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spring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配置文件中的生产者和消费者加入</a:t>
            </a:r>
            <a:r>
              <a:rPr lang="en-US" altLang="zh-CN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dubbo:annotation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元素即可</a:t>
            </a:r>
            <a:endParaRPr lang="en-US" altLang="zh-CN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生产者去除</a:t>
            </a:r>
            <a:r>
              <a:rPr lang="en-US" altLang="zh-CN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dubbo:service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元素</a:t>
            </a:r>
            <a:endParaRPr lang="en-US" altLang="zh-CN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消费者去除</a:t>
            </a:r>
            <a:r>
              <a:rPr lang="en-US" altLang="zh-CN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dubbo:reference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元素</a:t>
            </a:r>
            <a:endParaRPr lang="en-US" altLang="zh-CN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endParaRPr lang="en-US" altLang="zh-CN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15143" y="447973"/>
            <a:ext cx="9217023" cy="2592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服务提供方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Service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注解暴露服务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引入注解</a:t>
            </a:r>
            <a:endParaRPr lang="zh-CN" altLang="en-US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com.alibaba.dubbo.config.annotation.Service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实例化生产者实现类对象，并</a:t>
            </a:r>
            <a:r>
              <a:rPr lang="en-US" altLang="zh-CN" dirty="0" err="1">
                <a:solidFill>
                  <a:srgbClr val="3F7F5F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发布生产者实现类服务，只暴露接口</a:t>
            </a:r>
            <a:endParaRPr lang="zh-CN" altLang="en-US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Service(timeout = 5000)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AnnotateServiceImpl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AnnotateService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...</a:t>
            </a:r>
            <a:endParaRPr lang="en-US" altLang="zh-CN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28910" y="3328293"/>
            <a:ext cx="6429375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服务消费方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Reference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注解引用服务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AnnotationConsumeService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注入消费者接口，消费者调用生产者暴露的接口</a:t>
            </a:r>
            <a:endParaRPr lang="zh-CN" altLang="en-US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com.alibaba.dubbo.config.annotation.Reference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AnnotateService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annotateService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...</a:t>
            </a:r>
            <a:endParaRPr lang="en-US" altLang="zh-CN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56967" y="6280621"/>
            <a:ext cx="410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 smtClean="0">
                <a:solidFill>
                  <a:srgbClr val="FF0000"/>
                </a:solidFill>
              </a:rPr>
              <a:t>@Service</a:t>
            </a:r>
            <a:r>
              <a:rPr lang="zh-CN" altLang="en-US" dirty="0" smtClean="0">
                <a:solidFill>
                  <a:srgbClr val="FF0000"/>
                </a:solidFill>
              </a:rPr>
              <a:t>注解和</a:t>
            </a:r>
            <a:r>
              <a:rPr lang="en-US" altLang="zh-CN" dirty="0" smtClean="0">
                <a:solidFill>
                  <a:srgbClr val="FF0000"/>
                </a:solidFill>
              </a:rPr>
              <a:t>@Reference</a:t>
            </a:r>
            <a:r>
              <a:rPr lang="zh-CN" altLang="en-US" dirty="0" smtClean="0">
                <a:solidFill>
                  <a:srgbClr val="FF0000"/>
                </a:solidFill>
              </a:rPr>
              <a:t>注解都由</a:t>
            </a:r>
            <a:r>
              <a:rPr lang="en-US" altLang="zh-CN" dirty="0" err="1" smtClean="0">
                <a:solidFill>
                  <a:srgbClr val="FF0000"/>
                </a:solidFill>
              </a:rPr>
              <a:t>dubbo:annotation</a:t>
            </a:r>
            <a:r>
              <a:rPr lang="zh-CN" altLang="en-US" dirty="0" smtClean="0">
                <a:solidFill>
                  <a:srgbClr val="FF0000"/>
                </a:solidFill>
              </a:rPr>
              <a:t>元素扫描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矩形 244"/>
          <p:cNvSpPr/>
          <p:nvPr/>
        </p:nvSpPr>
        <p:spPr>
          <a:xfrm>
            <a:off x="311169" y="448147"/>
            <a:ext cx="573895" cy="553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165023" y="198"/>
            <a:ext cx="538090" cy="8386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ea typeface="微软雅黑" panose="020B0503020204020204" pitchFamily="34" charset="-122"/>
              </a:rPr>
              <a:t>5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1061782" y="540087"/>
            <a:ext cx="4457182" cy="3692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dubbo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解析生产者</a:t>
            </a:r>
            <a:r>
              <a:rPr lang="en-US" altLang="zh-CN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-hessian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协议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80903" y="1528093"/>
            <a:ext cx="87254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</a:rPr>
              <a:t>Hessian</a:t>
            </a:r>
            <a:r>
              <a:rPr lang="zh-CN" altLang="en-US" dirty="0">
                <a:latin typeface="宋体" panose="02010600030101010101" pitchFamily="2" charset="-122"/>
              </a:rPr>
              <a:t>是一个轻量级的</a:t>
            </a:r>
            <a:r>
              <a:rPr lang="en-US" altLang="zh-CN" dirty="0" err="1">
                <a:latin typeface="宋体" panose="02010600030101010101" pitchFamily="2" charset="-122"/>
              </a:rPr>
              <a:t>remoting</a:t>
            </a:r>
            <a:r>
              <a:rPr lang="en-US" altLang="zh-CN" dirty="0">
                <a:latin typeface="宋体" panose="02010600030101010101" pitchFamily="2" charset="-122"/>
              </a:rPr>
              <a:t> </a:t>
            </a:r>
            <a:r>
              <a:rPr lang="en-US" altLang="zh-CN" dirty="0" err="1">
                <a:latin typeface="宋体" panose="02010600030101010101" pitchFamily="2" charset="-122"/>
              </a:rPr>
              <a:t>onhttp</a:t>
            </a:r>
            <a:r>
              <a:rPr lang="zh-CN" altLang="en-US" dirty="0">
                <a:latin typeface="宋体" panose="02010600030101010101" pitchFamily="2" charset="-122"/>
              </a:rPr>
              <a:t>工具，使用简单的方法提供了</a:t>
            </a:r>
            <a:r>
              <a:rPr lang="en-US" altLang="zh-CN" dirty="0">
                <a:latin typeface="宋体" panose="02010600030101010101" pitchFamily="2" charset="-122"/>
              </a:rPr>
              <a:t>RMI</a:t>
            </a:r>
            <a:r>
              <a:rPr lang="zh-CN" altLang="en-US" dirty="0">
                <a:latin typeface="宋体" panose="02010600030101010101" pitchFamily="2" charset="-122"/>
              </a:rPr>
              <a:t>的功能。 </a:t>
            </a:r>
            <a:endParaRPr lang="zh-CN" altLang="en-US" dirty="0"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</a:rPr>
              <a:t>相比</a:t>
            </a:r>
            <a:r>
              <a:rPr lang="en-US" altLang="zh-CN" dirty="0" err="1">
                <a:latin typeface="宋体" panose="02010600030101010101" pitchFamily="2" charset="-122"/>
              </a:rPr>
              <a:t>WebService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Hessian</a:t>
            </a:r>
            <a:r>
              <a:rPr lang="zh-CN" altLang="en-US" dirty="0">
                <a:latin typeface="宋体" panose="02010600030101010101" pitchFamily="2" charset="-122"/>
              </a:rPr>
              <a:t>更简单、快捷。采用的是二进制</a:t>
            </a:r>
            <a:r>
              <a:rPr lang="en-US" altLang="zh-CN" dirty="0">
                <a:latin typeface="宋体" panose="02010600030101010101" pitchFamily="2" charset="-122"/>
              </a:rPr>
              <a:t>RPC</a:t>
            </a:r>
            <a:r>
              <a:rPr lang="zh-CN" altLang="en-US" dirty="0">
                <a:latin typeface="宋体" panose="02010600030101010101" pitchFamily="2" charset="-122"/>
              </a:rPr>
              <a:t>协议</a:t>
            </a:r>
            <a:endParaRPr lang="zh-CN" altLang="en-US" dirty="0"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</a:rPr>
              <a:t>，因为采用的是二进制协议，所以它很适合于发送二进制数据。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80903" y="2752229"/>
            <a:ext cx="6429375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zh-CN" altLang="en-US" dirty="0">
                <a:solidFill>
                  <a:srgbClr val="FF0000"/>
                </a:solidFill>
              </a:rPr>
              <a:t>这里</a:t>
            </a:r>
            <a:r>
              <a:rPr lang="en-US" altLang="zh-CN" dirty="0" smtClean="0">
                <a:solidFill>
                  <a:srgbClr val="FF0000"/>
                </a:solidFill>
              </a:rPr>
              <a:t>hessian</a:t>
            </a:r>
            <a:r>
              <a:rPr lang="zh-CN" altLang="en-US" dirty="0" smtClean="0">
                <a:solidFill>
                  <a:srgbClr val="FF0000"/>
                </a:solidFill>
              </a:rPr>
              <a:t>用</a:t>
            </a:r>
            <a:r>
              <a:rPr lang="zh-CN" altLang="en-US" dirty="0">
                <a:solidFill>
                  <a:srgbClr val="FF0000"/>
                </a:solidFill>
              </a:rPr>
              <a:t>到的</a:t>
            </a:r>
            <a:r>
              <a:rPr lang="en-US" altLang="zh-CN" dirty="0">
                <a:solidFill>
                  <a:srgbClr val="FF0000"/>
                </a:solidFill>
              </a:rPr>
              <a:t>jar</a:t>
            </a:r>
            <a:r>
              <a:rPr lang="zh-CN" altLang="en-US" dirty="0">
                <a:solidFill>
                  <a:srgbClr val="FF0000"/>
                </a:solidFill>
              </a:rPr>
              <a:t>包</a:t>
            </a:r>
            <a:r>
              <a:rPr lang="zh-CN" altLang="en-US" dirty="0" smtClean="0">
                <a:solidFill>
                  <a:srgbClr val="FF0000"/>
                </a:solidFill>
              </a:rPr>
              <a:t>和</a:t>
            </a:r>
            <a:r>
              <a:rPr lang="en-US" altLang="zh-CN" dirty="0" err="1" smtClean="0">
                <a:solidFill>
                  <a:srgbClr val="FF0000"/>
                </a:solidFill>
              </a:rPr>
              <a:t>dubbo</a:t>
            </a:r>
            <a:r>
              <a:rPr lang="zh-CN" altLang="en-US" dirty="0" smtClean="0">
                <a:solidFill>
                  <a:srgbClr val="FF0000"/>
                </a:solidFill>
              </a:rPr>
              <a:t>协议一致</a:t>
            </a:r>
            <a:endParaRPr lang="en-US" altLang="zh-CN" dirty="0">
              <a:solidFill>
                <a:srgbClr val="FF0000"/>
              </a:solidFill>
            </a:endParaRPr>
          </a:p>
          <a:p>
            <a:pPr algn="just"/>
            <a:r>
              <a:rPr lang="zh-CN" altLang="en-US" dirty="0">
                <a:solidFill>
                  <a:srgbClr val="FF0000"/>
                </a:solidFill>
              </a:rPr>
              <a:t>只是多</a:t>
            </a:r>
            <a:r>
              <a:rPr lang="zh-CN" altLang="en-US" dirty="0" smtClean="0">
                <a:solidFill>
                  <a:srgbClr val="FF0000"/>
                </a:solidFill>
              </a:rPr>
              <a:t>个</a:t>
            </a:r>
            <a:r>
              <a:rPr lang="en-US" altLang="zh-CN" dirty="0" smtClean="0">
                <a:solidFill>
                  <a:srgbClr val="FF0000"/>
                </a:solidFill>
              </a:rPr>
              <a:t>hessian.jar</a:t>
            </a:r>
            <a:r>
              <a:rPr lang="zh-CN" altLang="en-US" dirty="0" smtClean="0">
                <a:solidFill>
                  <a:srgbClr val="FF0000"/>
                </a:solidFill>
              </a:rPr>
              <a:t>包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dependency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groupId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com.caucho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groupId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artifactId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hessian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artifactId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version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4.0.7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version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dependency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183217" y="5084359"/>
            <a:ext cx="763053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Hessian</a:t>
            </a:r>
            <a:r>
              <a:rPr lang="zh-CN" alt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创建生产者工程为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web</a:t>
            </a:r>
            <a:r>
              <a:rPr lang="zh-CN" alt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工程</a:t>
            </a:r>
            <a:endParaRPr lang="en-US" altLang="zh-CN" b="1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interface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接口名称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//hessian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适合上传二进制</a:t>
            </a:r>
            <a:r>
              <a:rPr lang="zh-CN" altLang="en-US" dirty="0" smtClean="0">
                <a:solidFill>
                  <a:srgbClr val="3F7F5F"/>
                </a:solidFill>
                <a:latin typeface="Consolas" panose="020B0609020204030204" pitchFamily="49" charset="0"/>
              </a:rPr>
              <a:t>信息这里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定义参数类型为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byte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数据</a:t>
            </a:r>
            <a:endParaRPr lang="zh-CN" altLang="en-US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zh-CN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返回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类型 方法名称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byte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altLang="zh-CN" b="1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28975" y="375965"/>
            <a:ext cx="6429375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生产者实现类名称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接口名称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  <a:endParaRPr lang="en-US" altLang="zh-CN" dirty="0">
              <a:solidFill>
                <a:srgbClr val="646464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返回类型 方法名称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byte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altLang="zh-CN" b="1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业务逻辑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...</a:t>
            </a:r>
            <a:endParaRPr lang="en-US" altLang="zh-CN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28975" y="2130291"/>
            <a:ext cx="861610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通过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spring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定义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生产者配置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&lt;?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xml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version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"1.0" </a:t>
            </a:r>
            <a:r>
              <a:rPr lang="en-US" altLang="zh-CN" i="1" dirty="0">
                <a:solidFill>
                  <a:srgbClr val="7F007F"/>
                </a:solidFill>
                <a:latin typeface="Consolas" panose="020B0609020204030204" pitchFamily="49" charset="0"/>
              </a:rPr>
              <a:t>encoding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"UTF-8"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?&gt;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beans </a:t>
            </a:r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xmlns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"http://www.springframework.org/schema/beans"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xmlns:dubbo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"http://code.alibabatech.com/schema/</a:t>
            </a:r>
            <a:r>
              <a:rPr lang="en-US" altLang="zh-CN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dubbo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xmlns:xsi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"http://www.w3.org/2001/XMLSchema-instance"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xsi:schemaLocation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"http://www.springframework.org/schema/beans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http://www.springframework.org/schema/beans/spring-beans-2.5.xsd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        http://code.alibabatech.com/schema/dubbo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        http://code.alibabatech.com/schema/dubbo/dubbo.xsd"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dirty="0"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提供方应用信息，用于计算依赖关系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dubbo:application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工程名称命名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altLang="zh-CN" i="1" dirty="0" smtClean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en-US" altLang="zh-CN" i="1" dirty="0" smtClean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使用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zookeeper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注册中心暴露服务地址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dubbo:registry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address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"zookeeper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地址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暴露服务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it-IT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it-IT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dubbo:protocol </a:t>
            </a:r>
            <a:r>
              <a:rPr lang="it-IT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it-IT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it-IT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"dubbo" </a:t>
            </a:r>
            <a:r>
              <a:rPr lang="it-IT" altLang="zh-CN" i="1" dirty="0">
                <a:solidFill>
                  <a:srgbClr val="7F007F"/>
                </a:solidFill>
                <a:latin typeface="Consolas" panose="020B0609020204030204" pitchFamily="49" charset="0"/>
              </a:rPr>
              <a:t>port</a:t>
            </a:r>
            <a:r>
              <a:rPr lang="it-IT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it-IT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"20886" </a:t>
            </a:r>
            <a:r>
              <a:rPr lang="it-IT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it-IT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36887" y="231949"/>
            <a:ext cx="10513168" cy="6840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zh-CN" altLang="en-US" dirty="0"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 err="1">
                <a:solidFill>
                  <a:srgbClr val="3F5FBF"/>
                </a:solidFill>
                <a:latin typeface="Consolas" panose="020B0609020204030204" pitchFamily="49" charset="0"/>
              </a:rPr>
              <a:t>contextpath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是当前项目名称，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用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hessian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协议在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8080(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当前项目名称的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servlet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容器的端口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)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端口暴露服务，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server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这里是使用的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web.xml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里面配置的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servlet 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这个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servlet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访问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hessian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实现类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dubbo:protocol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"hessian" </a:t>
            </a:r>
            <a:r>
              <a:rPr lang="en-US" altLang="zh-CN" i="1" dirty="0">
                <a:solidFill>
                  <a:srgbClr val="7F007F"/>
                </a:solidFill>
                <a:latin typeface="Consolas" panose="020B0609020204030204" pitchFamily="49" charset="0"/>
              </a:rPr>
              <a:t>port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当前项目端口号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endParaRPr lang="en-US" altLang="zh-CN" i="1" dirty="0" smtClean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	</a:t>
            </a:r>
            <a:r>
              <a:rPr lang="en-US" altLang="zh-CN" i="1" dirty="0" err="1" smtClean="0">
                <a:solidFill>
                  <a:srgbClr val="7F007F"/>
                </a:solidFill>
                <a:latin typeface="Consolas" panose="020B0609020204030204" pitchFamily="49" charset="0"/>
              </a:rPr>
              <a:t>contextpath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当前项目名称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altLang="zh-CN" i="1" dirty="0">
                <a:solidFill>
                  <a:srgbClr val="7F007F"/>
                </a:solidFill>
                <a:latin typeface="Consolas" panose="020B0609020204030204" pitchFamily="49" charset="0"/>
              </a:rPr>
              <a:t>server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"servlet" 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需要指定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hessian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协议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,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否则会在上面设置的协议中随机调用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,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就会一会成功一会失败 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 protocol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属性表示指定协议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当前配置中有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个协议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 &lt;</a:t>
            </a:r>
            <a:r>
              <a:rPr lang="en-US" altLang="zh-CN" dirty="0" err="1">
                <a:solidFill>
                  <a:srgbClr val="3F5FBF"/>
                </a:solidFill>
                <a:latin typeface="Consolas" panose="020B0609020204030204" pitchFamily="49" charset="0"/>
              </a:rPr>
              <a:t>dubbo:protocol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 /&gt; </a:t>
            </a:r>
            <a:r>
              <a:rPr lang="en-US" altLang="zh-CN" dirty="0" err="1">
                <a:solidFill>
                  <a:srgbClr val="3F5FBF"/>
                </a:solidFill>
                <a:latin typeface="Consolas" panose="020B0609020204030204" pitchFamily="49" charset="0"/>
              </a:rPr>
              <a:t>duubo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hessian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path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属性表示通过请求地址访问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hessian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实现类   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3F5FBF"/>
                </a:solidFill>
                <a:latin typeface="Consolas" panose="020B0609020204030204" pitchFamily="49" charset="0"/>
              </a:rPr>
              <a:t>contextpath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属性和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path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属性组装请求地址 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例如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/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当前项目名称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/hessian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自定义地址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dubbo:service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protocol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"hessian"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zh-CN" altLang="en-US" dirty="0">
                <a:latin typeface="Consolas" panose="020B0609020204030204" pitchFamily="49" charset="0"/>
              </a:rPr>
              <a:t>               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interface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接口名称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altLang="zh-CN" i="1" dirty="0">
                <a:solidFill>
                  <a:srgbClr val="7F007F"/>
                </a:solidFill>
                <a:latin typeface="Consolas" panose="020B0609020204030204" pitchFamily="49" charset="0"/>
              </a:rPr>
              <a:t>ref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生产者实现类别名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latin typeface="Consolas" panose="020B0609020204030204" pitchFamily="49" charset="0"/>
              </a:rPr>
              <a:t>               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path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"hessian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自定义地址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 algn="just"/>
            <a:endParaRPr lang="zh-CN" altLang="en-US" dirty="0">
              <a:latin typeface="Consolas" panose="020B0609020204030204" pitchFamily="49" charset="0"/>
            </a:endParaRPr>
          </a:p>
          <a:p>
            <a:pPr lvl="1"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bean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生产者实现类别名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altLang="zh-CN" i="1" dirty="0">
                <a:solidFill>
                  <a:srgbClr val="7F007F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生产者实现类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&gt;&lt;/</a:t>
            </a:r>
            <a:r>
              <a:rPr lang="en-US" altLang="zh-CN" i="1" dirty="0">
                <a:solidFill>
                  <a:srgbClr val="3F7F7F"/>
                </a:solidFill>
                <a:latin typeface="Consolas" panose="020B0609020204030204" pitchFamily="49" charset="0"/>
              </a:rPr>
              <a:t>bean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dirty="0"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beans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252911" y="375965"/>
            <a:ext cx="936104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在</a:t>
            </a:r>
            <a:r>
              <a:rPr lang="en-US" altLang="zh-CN" dirty="0" smtClean="0">
                <a:solidFill>
                  <a:srgbClr val="FF0000"/>
                </a:solidFill>
                <a:latin typeface="Consolas" panose="020B0609020204030204" pitchFamily="49" charset="0"/>
              </a:rPr>
              <a:t>web.xml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中配置</a:t>
            </a:r>
            <a:endParaRPr lang="en-US" altLang="zh-CN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dirty="0" smtClean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spring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配置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context-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-name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contextConfigLocation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-name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-value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classpath:applicationContext.xml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-value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context-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listener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listener-class</a:t>
            </a:r>
            <a:r>
              <a:rPr lang="en-US" altLang="zh-CN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 smtClean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org.springframework.web.context.ContextLoaderListener</a:t>
            </a:r>
            <a:endParaRPr lang="en-US" altLang="zh-CN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listener-class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listener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hessian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协议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server="servlet" 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消费者访问生产者时会触发</a:t>
            </a:r>
            <a:r>
              <a:rPr lang="en-US" altLang="zh-CN" dirty="0" err="1">
                <a:solidFill>
                  <a:srgbClr val="3F5FBF"/>
                </a:solidFill>
                <a:latin typeface="Consolas" panose="020B0609020204030204" pitchFamily="49" charset="0"/>
              </a:rPr>
              <a:t>DispatcherServlet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通过放射访问实现类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servlet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dubbo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servlet-class</a:t>
            </a:r>
            <a:r>
              <a:rPr lang="en-US" altLang="zh-CN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 smtClean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com.alibaba.dubbo.remoting.http.servlet.DispatcherServlet</a:t>
            </a:r>
            <a:endParaRPr lang="en-US" altLang="zh-CN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servlet-class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r>
              <a:rPr lang="en-US" altLang="zh-CN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servlet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servlet-mapping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dubbo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url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-pattern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/*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url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-pattern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servlet-mapping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dirty="0">
              <a:solidFill>
                <a:srgbClr val="00808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311169" y="448147"/>
            <a:ext cx="573895" cy="553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5023" y="198"/>
            <a:ext cx="538090" cy="8386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ea typeface="微软雅黑" panose="020B0503020204020204" pitchFamily="34" charset="-122"/>
              </a:rPr>
              <a:t>6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31210" y="540087"/>
            <a:ext cx="4353756" cy="3692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240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dubbo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解析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消费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者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-hessian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协议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17007" y="1528093"/>
            <a:ext cx="76328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 smtClean="0">
                <a:solidFill>
                  <a:srgbClr val="FF0000"/>
                </a:solidFill>
              </a:rPr>
              <a:t>消费者工程也是</a:t>
            </a:r>
            <a:r>
              <a:rPr lang="en-US" altLang="zh-CN" dirty="0" smtClean="0">
                <a:solidFill>
                  <a:srgbClr val="FF0000"/>
                </a:solidFill>
              </a:rPr>
              <a:t>maven</a:t>
            </a:r>
            <a:r>
              <a:rPr lang="zh-CN" altLang="en-US" dirty="0" smtClean="0">
                <a:solidFill>
                  <a:srgbClr val="FF0000"/>
                </a:solidFill>
              </a:rPr>
              <a:t>工程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algn="just"/>
            <a:r>
              <a:rPr lang="zh-CN" altLang="en-US" dirty="0" smtClean="0">
                <a:solidFill>
                  <a:srgbClr val="FF0000"/>
                </a:solidFill>
              </a:rPr>
              <a:t>消费者和生产者引入</a:t>
            </a:r>
            <a:r>
              <a:rPr lang="en-US" altLang="zh-CN" dirty="0" smtClean="0">
                <a:solidFill>
                  <a:srgbClr val="FF0000"/>
                </a:solidFill>
              </a:rPr>
              <a:t>jar</a:t>
            </a:r>
            <a:r>
              <a:rPr lang="zh-CN" altLang="en-US" dirty="0" smtClean="0">
                <a:solidFill>
                  <a:srgbClr val="FF0000"/>
                </a:solidFill>
              </a:rPr>
              <a:t>包一致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algn="just"/>
            <a:r>
              <a:rPr lang="zh-CN" altLang="en-US" dirty="0" smtClean="0">
                <a:solidFill>
                  <a:srgbClr val="FF0000"/>
                </a:solidFill>
              </a:rPr>
              <a:t>这个时候消费者需要依赖生产者暴露的接口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algn="just"/>
            <a:r>
              <a:rPr lang="zh-CN" altLang="en-US" dirty="0" smtClean="0">
                <a:solidFill>
                  <a:srgbClr val="FF0000"/>
                </a:solidFill>
              </a:rPr>
              <a:t>（如果接口是一个独立工程可以依赖）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algn="just"/>
            <a:r>
              <a:rPr lang="zh-CN" altLang="en-US" dirty="0" smtClean="0">
                <a:solidFill>
                  <a:srgbClr val="FF0000"/>
                </a:solidFill>
              </a:rPr>
              <a:t>或者自定义接口，需要和生产者提供的接口一致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972991" y="3328293"/>
            <a:ext cx="875930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通过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spring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定义</a:t>
            </a:r>
            <a:r>
              <a:rPr lang="en-US" altLang="zh-CN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消费者配置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just"/>
            <a:endParaRPr lang="en-US" altLang="zh-CN" dirty="0" smtClean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&lt;?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xml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version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"1.0" </a:t>
            </a:r>
            <a:r>
              <a:rPr lang="en-US" altLang="zh-CN" i="1" dirty="0">
                <a:solidFill>
                  <a:srgbClr val="7F007F"/>
                </a:solidFill>
                <a:latin typeface="Consolas" panose="020B0609020204030204" pitchFamily="49" charset="0"/>
              </a:rPr>
              <a:t>encoding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"UTF-8"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?&gt;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beans </a:t>
            </a:r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xmlns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"http://www.springframework.org/schema/beans"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xmlns:xsi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"http://www.w3.org/2001/XMLSchema-instance"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xmlns:dubbo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"http://code.alibabatech.com/schema/</a:t>
            </a:r>
            <a:r>
              <a:rPr lang="en-US" altLang="zh-CN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dubbo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7F007F"/>
                </a:solidFill>
                <a:latin typeface="Consolas" panose="020B0609020204030204" pitchFamily="49" charset="0"/>
              </a:rPr>
              <a:t>xsi:schemaLocation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"http://www.springframework.org/schema/beans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    http://www.springframework.org/schema/beans/spring-beans.xsd       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    http://code.alibabatech.com/schema/dubbo       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    http://code.alibabatech.com/schema/dubbo/dubbo.xsd"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消费方应用名，用于计算依赖关系，不是匹配条件，不要与提供方一样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dubbo:application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工程名称命名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 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0">
        <p14:warp dir="in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468935" y="1168053"/>
            <a:ext cx="928903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   &lt;!-- 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使用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zookeeper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注册调用暴露服务地址 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例如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address="zookeeper://127.0.0.1:2181"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dubbo:registry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address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"zookeeper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地址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&lt;!-- 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生成远程服务代理，可以和本地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bean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一样</a:t>
            </a:r>
            <a:r>
              <a:rPr lang="zh-CN" altLang="en-US" dirty="0" smtClean="0">
                <a:solidFill>
                  <a:srgbClr val="3F5FBF"/>
                </a:solidFill>
                <a:latin typeface="Consolas" panose="020B0609020204030204" pitchFamily="49" charset="0"/>
              </a:rPr>
              <a:t>使用</a:t>
            </a:r>
            <a:endParaRPr lang="en-US" altLang="zh-CN" dirty="0" smtClean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   </a:t>
            </a:r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接口为什么能创建对象？ 动态代理</a:t>
            </a:r>
            <a:endParaRPr lang="zh-CN" altLang="en-US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3F5FB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5FBF"/>
                </a:solidFill>
                <a:latin typeface="Consolas" panose="020B0609020204030204" pitchFamily="49" charset="0"/>
              </a:rPr>
              <a:t>--&gt;</a:t>
            </a:r>
            <a:endParaRPr lang="en-US" altLang="zh-CN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3F7F7F"/>
                </a:solidFill>
                <a:latin typeface="Consolas" panose="020B0609020204030204" pitchFamily="49" charset="0"/>
              </a:rPr>
              <a:t>dubbo:reference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endParaRPr lang="en-US" altLang="zh-CN" dirty="0">
              <a:solidFill>
                <a:srgbClr val="3F7F7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interface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消费者调用生产者暴露的接口（这个接口有可能依赖，有可能自定义）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endParaRPr lang="en-US" altLang="zh-CN" i="1" dirty="0">
              <a:solidFill>
                <a:srgbClr val="2A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7F007F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“</a:t>
            </a:r>
            <a:r>
              <a:rPr lang="zh-CN" altLang="en-US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消费者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别名，哪里业务需要使用</a:t>
            </a:r>
            <a:r>
              <a:rPr lang="zh-CN" altLang="en-US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消费者，注入</a:t>
            </a:r>
            <a:r>
              <a:rPr lang="zh-CN" alt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即可</a:t>
            </a:r>
            <a:r>
              <a:rPr lang="en-US" altLang="zh-CN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altLang="zh-CN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  <a:endParaRPr lang="en-US" altLang="zh-CN" i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dirty="0">
                <a:solidFill>
                  <a:srgbClr val="3F7F7F"/>
                </a:solidFill>
                <a:latin typeface="Consolas" panose="020B0609020204030204" pitchFamily="49" charset="0"/>
              </a:rPr>
              <a:t>beans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0">
        <p14:warp dir="in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04839" y="1600101"/>
            <a:ext cx="907300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Consumer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altLang="zh-CN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ClassPathXmlApplicationContext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6A3E3E"/>
                </a:solidFill>
                <a:latin typeface="Consolas" panose="020B0609020204030204" pitchFamily="49" charset="0"/>
              </a:rPr>
              <a:t>context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ClassPathXmlApplicationContext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spring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配置</a:t>
            </a:r>
            <a:r>
              <a:rPr lang="en-US" altLang="zh-CN" dirty="0" err="1">
                <a:solidFill>
                  <a:srgbClr val="2A00FF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消费者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.xml</a:t>
            </a:r>
            <a:r>
              <a:rPr lang="en-US" altLang="zh-CN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context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.start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2A00FF"/>
                </a:solidFill>
                <a:latin typeface="Consolas" panose="020B0609020204030204" pitchFamily="49" charset="0"/>
              </a:rPr>
              <a:t>dubbo:reference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interface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属性接口类型 </a:t>
            </a:r>
            <a:r>
              <a:rPr lang="zh-CN" altLang="en-US" dirty="0">
                <a:solidFill>
                  <a:srgbClr val="6A3E3E"/>
                </a:solidFill>
                <a:latin typeface="Consolas" panose="020B0609020204030204" pitchFamily="49" charset="0"/>
              </a:rPr>
              <a:t>别名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(</a:t>
            </a:r>
            <a:r>
              <a:rPr lang="en-US" altLang="zh-CN" dirty="0" err="1">
                <a:solidFill>
                  <a:srgbClr val="2A00FF"/>
                </a:solidFill>
                <a:latin typeface="Consolas" panose="020B0609020204030204" pitchFamily="49" charset="0"/>
              </a:rPr>
              <a:t>dubbo:reference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interface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属性接口类型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 err="1">
                <a:solidFill>
                  <a:srgbClr val="6A3E3E"/>
                </a:solidFill>
                <a:latin typeface="Consolas" panose="020B0609020204030204" pitchFamily="49" charset="0"/>
              </a:rPr>
              <a:t>context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.getBean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引入</a:t>
            </a:r>
            <a:r>
              <a:rPr lang="en-US" altLang="zh-CN" dirty="0" err="1">
                <a:solidFill>
                  <a:srgbClr val="2A00FF"/>
                </a:solidFill>
                <a:latin typeface="Consolas" panose="020B0609020204030204" pitchFamily="49" charset="0"/>
              </a:rPr>
              <a:t>dubbo:reference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id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属性别名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3F7F5F"/>
                </a:solidFill>
                <a:latin typeface="Consolas" panose="020B0609020204030204" pitchFamily="49" charset="0"/>
              </a:rPr>
              <a:t>获取远程服务代理</a:t>
            </a:r>
            <a:endParaRPr lang="zh-CN" altLang="en-US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zh-CN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返回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类型 </a:t>
            </a:r>
            <a:r>
              <a:rPr lang="en-US" altLang="zh-CN" dirty="0">
                <a:solidFill>
                  <a:srgbClr val="6A3E3E"/>
                </a:solidFill>
                <a:latin typeface="Consolas" panose="020B0609020204030204" pitchFamily="49" charset="0"/>
              </a:rPr>
              <a:t>result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zh-CN" altLang="en-US" dirty="0">
                <a:solidFill>
                  <a:srgbClr val="6A3E3E"/>
                </a:solidFill>
                <a:latin typeface="Consolas" panose="020B0609020204030204" pitchFamily="49" charset="0"/>
              </a:rPr>
              <a:t>别名调用方法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参数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0">
        <p14:warp dir="in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311169" y="448147"/>
            <a:ext cx="573895" cy="553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5023" y="198"/>
            <a:ext cx="538090" cy="8386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anose="020B0503020204020204" pitchFamily="34" charset="-122"/>
              </a:rPr>
              <a:t>7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31210" y="540087"/>
            <a:ext cx="3250890" cy="36920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SpringBoot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配置</a:t>
            </a:r>
            <a:r>
              <a:rPr lang="en-US" altLang="zh-CN" sz="2400" dirty="0" err="1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dubbo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28975" y="1960141"/>
            <a:ext cx="806489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注解配置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需要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2.5.7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及以上版本支持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服务提供方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Service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注解暴露服务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com.alibaba.dubbo.config.annotation.Service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Service(timeout = 5000)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AnnotateServiceImpl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AnnotateService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...</a:t>
            </a:r>
            <a:endParaRPr lang="en-US" altLang="zh-CN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0">
        <p14:warp dir="in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468935" y="808013"/>
            <a:ext cx="9145016" cy="5688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javaconfig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形式配置公共模块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dirty="0"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Configuration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DubboConfiguration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dirty="0"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Bean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applicationConfig.setName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"provider-test"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dirty="0"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Bean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registryConfig.setAddress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"zookeeper://127.0.0.1:2181"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registryConfig.setClient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"curator"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0">
        <p14:warp dir="in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52911" y="1096045"/>
            <a:ext cx="1051316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指定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扫描路径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SpringBootApplication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DubboComponentScan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basePackages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2A00FF"/>
                </a:solidFill>
                <a:latin typeface="Consolas" panose="020B0609020204030204" pitchFamily="49" charset="0"/>
              </a:rPr>
              <a:t>com.alibaba.dubbo.test.service.impl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ProviderTestApp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...</a:t>
            </a:r>
            <a:endParaRPr lang="en-US" altLang="zh-CN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252911" y="3400301"/>
            <a:ext cx="642937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服务消费方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Reference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注解引用服务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AnnotationConsumeService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com.alibaba.dubbo.config.annotation.Reference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AnnotateService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annotateService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...</a:t>
            </a:r>
            <a:endParaRPr lang="en-US" altLang="zh-CN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0">
        <p14:warp dir="in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36887" y="303957"/>
            <a:ext cx="1188132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javaconfig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形式配置公共模块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sz="1600" dirty="0"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Configuration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DubboConfiguration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sz="1600" dirty="0"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Bean</a:t>
            </a:r>
            <a:endParaRPr lang="en-US" altLang="zh-CN" sz="1600" dirty="0">
              <a:solidFill>
                <a:srgbClr val="000000"/>
              </a:solidFill>
              <a:highlight>
                <a:srgbClr val="D4D4D4"/>
              </a:highlight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applicationConfig.setName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"consumer-test"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applicationConfig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sz="1600" dirty="0"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Bean</a:t>
            </a:r>
            <a:endParaRPr lang="en-US" altLang="zh-CN" sz="1600" dirty="0">
              <a:solidFill>
                <a:srgbClr val="000000"/>
              </a:solidFill>
              <a:highlight>
                <a:srgbClr val="D4D4D4"/>
              </a:highlight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ConsumerConfig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consumerConfig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ConsumerConfig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consumerConfig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ConsumerConfig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consumerConfig.setTimeout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(3000);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consumerConfig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sz="1600" dirty="0"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Bean</a:t>
            </a:r>
            <a:endParaRPr lang="en-US" altLang="zh-CN" sz="1600" dirty="0">
              <a:solidFill>
                <a:srgbClr val="000000"/>
              </a:solidFill>
              <a:highlight>
                <a:srgbClr val="D4D4D4"/>
              </a:highlight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registryConfig.setAddress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"zookeeper://127.0.0.1:2181"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registryConfig.setClient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"curator"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registryConfig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0">
        <p14:warp dir="in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52911" y="2464197"/>
            <a:ext cx="91193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zh-CN" altLang="en-US" dirty="0"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指定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dubbo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扫描路径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endParaRPr lang="zh-CN" altLang="en-US" dirty="0"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SpringBootApplication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DubboComponentScan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basePackages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2A00FF"/>
                </a:solidFill>
                <a:latin typeface="Consolas" panose="020B0609020204030204" pitchFamily="49" charset="0"/>
              </a:rPr>
              <a:t>com.alibaba.dubbo.test.service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ConsumerTestApp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...</a:t>
            </a:r>
            <a:endParaRPr lang="en-US" altLang="zh-CN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0">
        <p14:warp dir="in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自定义设计方案">
  <a:themeElements>
    <a:clrScheme name="自定义 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BC1DD"/>
      </a:accent1>
      <a:accent2>
        <a:srgbClr val="435F8E"/>
      </a:accent2>
      <a:accent3>
        <a:srgbClr val="4BC1DD"/>
      </a:accent3>
      <a:accent4>
        <a:srgbClr val="435F8E"/>
      </a:accent4>
      <a:accent5>
        <a:srgbClr val="4BC1DD"/>
      </a:accent5>
      <a:accent6>
        <a:srgbClr val="435F8E"/>
      </a:accent6>
      <a:hlink>
        <a:srgbClr val="4BC1DD"/>
      </a:hlink>
      <a:folHlink>
        <a:srgbClr val="435F8E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11604</Words>
  <Application>WPS 演示</Application>
  <PresentationFormat>自定义</PresentationFormat>
  <Paragraphs>546</Paragraphs>
  <Slides>34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Consolas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http:/www.ypppt.com</cp:keywords>
  <dc:description>http://www.ypppt.com/</dc:description>
  <cp:lastModifiedBy>admin</cp:lastModifiedBy>
  <cp:revision>2</cp:revision>
  <dcterms:created xsi:type="dcterms:W3CDTF">2017-03-14T11:17:00Z</dcterms:created>
  <dcterms:modified xsi:type="dcterms:W3CDTF">2018-11-14T01:34:21Z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